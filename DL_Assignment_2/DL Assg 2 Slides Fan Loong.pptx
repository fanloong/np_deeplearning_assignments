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4"/>
  </p:sldMasterIdLst>
  <p:notesMasterIdLst>
    <p:notesMasterId r:id="rId44"/>
  </p:notesMasterIdLst>
  <p:sldIdLst>
    <p:sldId id="256" r:id="rId5"/>
    <p:sldId id="286" r:id="rId6"/>
    <p:sldId id="262" r:id="rId7"/>
    <p:sldId id="259" r:id="rId8"/>
    <p:sldId id="287" r:id="rId9"/>
    <p:sldId id="290" r:id="rId10"/>
    <p:sldId id="291" r:id="rId11"/>
    <p:sldId id="293" r:id="rId12"/>
    <p:sldId id="299" r:id="rId13"/>
    <p:sldId id="300" r:id="rId14"/>
    <p:sldId id="301" r:id="rId15"/>
    <p:sldId id="304" r:id="rId16"/>
    <p:sldId id="306" r:id="rId17"/>
    <p:sldId id="310" r:id="rId18"/>
    <p:sldId id="311" r:id="rId19"/>
    <p:sldId id="316" r:id="rId20"/>
    <p:sldId id="307" r:id="rId21"/>
    <p:sldId id="312" r:id="rId22"/>
    <p:sldId id="320" r:id="rId23"/>
    <p:sldId id="328" r:id="rId24"/>
    <p:sldId id="292" r:id="rId25"/>
    <p:sldId id="294" r:id="rId26"/>
    <p:sldId id="295" r:id="rId27"/>
    <p:sldId id="296" r:id="rId28"/>
    <p:sldId id="297" r:id="rId29"/>
    <p:sldId id="313" r:id="rId30"/>
    <p:sldId id="314" r:id="rId31"/>
    <p:sldId id="315" r:id="rId32"/>
    <p:sldId id="317" r:id="rId33"/>
    <p:sldId id="318" r:id="rId34"/>
    <p:sldId id="329" r:id="rId35"/>
    <p:sldId id="319" r:id="rId36"/>
    <p:sldId id="321" r:id="rId37"/>
    <p:sldId id="322" r:id="rId38"/>
    <p:sldId id="323" r:id="rId39"/>
    <p:sldId id="325" r:id="rId40"/>
    <p:sldId id="324" r:id="rId41"/>
    <p:sldId id="327" r:id="rId42"/>
    <p:sldId id="279" r:id="rId43"/>
  </p:sldIdLst>
  <p:sldSz cx="9144000" cy="5143500" type="screen16x9"/>
  <p:notesSz cx="6858000" cy="9144000"/>
  <p:embeddedFontLst>
    <p:embeddedFont>
      <p:font typeface="Raleway Thin" panose="020B0604020202020204" charset="0"/>
      <p:bold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8E960E-CA39-49DE-BF67-C02230EBC13A}" v="51" dt="2020-08-13T15:45:33.674"/>
  </p1510:revLst>
</p1510:revInfo>
</file>

<file path=ppt/tableStyles.xml><?xml version="1.0" encoding="utf-8"?>
<a:tblStyleLst xmlns:a="http://schemas.openxmlformats.org/drawingml/2006/main" def="{0F6192BE-7AA7-42A7-BA02-E6BE5DC9EEE8}">
  <a:tblStyle styleId="{0F6192BE-7AA7-42A7-BA02-E6BE5DC9EEE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96122" autoAdjust="0"/>
  </p:normalViewPr>
  <p:slideViewPr>
    <p:cSldViewPr snapToGrid="0">
      <p:cViewPr varScale="1">
        <p:scale>
          <a:sx n="125" d="100"/>
          <a:sy n="125" d="100"/>
        </p:scale>
        <p:origin x="25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1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2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8-13T15:46:11.39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8-13T15:42:37.75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2,'83'-2,"89"4,-53 15,16 0,-31-1,-68-9,0-2,41 1,-28-6,0-1,1-3,-2-2,52-12,-69 10,48-6,-64 13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8-13T15:42:43.90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71,'0'-1,"1"-1,0 1,0 0,-1 0,1-1,0 1,0 0,0 0,0 0,0 0,1 0,-1 1,0-1,0 0,3 0,23-14,-23 13,9-4,1 1,1 0,-1 1,1 0,-1 2,19-2,90-1,-26 4,100 4,-95 15,-20-3,15-5,125-3,53 6,144-7,-239-8,1881 2,-1733 9,16-1,308-8,-635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8-13T15:42:59.86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54,'6'-3,"-1"-1,1 1,0 0,0 1,0-1,1 1,-1 0,1 1,7-2,18-4,-9 1,0 1,1 1,0 1,0 2,0 0,25 3,-6-1,-25-1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8-13T15:43:00.63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1,'0'9,"1"1,0 0,0 0,1-1,0 1,1-1,0 0,0 1,9 14,-2-8,1 0,0 0,27 27,-34-39,0 0,0 0,-1 0,1 1,-1-1,0 1,-1 0,3 5,-4-8,-1 0,0 0,1 0,-1 1,0-1,0 0,0 0,-1 0,1 0,0 0,-1 0,0 0,1 0,-1 0,0 0,0 0,0-1,0 1,0 0,0-1,-1 1,1 0,0-1,-1 1,-1 0,-11 10,-1 0,-23 13,23-15,0-1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8-13T15:43:05.09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1,'48'0,"6"-1,108 13,-15 8,-112-17,0-1,49-3,-22 0,-53 1,-1 0,1-1,-1 0,1-1,-1 0,1 0,12-6,-10 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8-13T15:43:55.33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348 1,'0'3,"-1"0,0 1,0-1,0 0,0 0,0 0,-1 1,0-1,1-1,-1 1,0 0,0 0,-1-1,1 1,0-1,-1 0,-4 4,-53 33,53-35,-32 19,-2-1,-65 49,103-68,0 0,-1-1,1 1,-1-1,0 0,0 0,-6 2,10-4,0 0,-1 0,1 0,0 0,-1 0,1 0,0 0,-1 0,1 0,0 0,-1 0,1 0,0 0,-1 0,1 0,0-1,0 1,-1 0,1 0,0 0,-1 0,1 0,0-1,0 1,-1 0,1 0,0-1,0 1,0 0,-1 0,1-1,0 1,0 0,0 0,0-1,4-22,23-30,-41 71,9-12,-1 1,1-1,-8 14,13-18,-1-1,0 0,1 0,-1 0,1 1,-1-1,1 0,0 0,0 1,-1-1,1 0,0 1,0-1,0 0,0 1,1-1,-1 0,0 1,0-1,1 0,-1 1,1-1,-1 0,1 0,0 0,-1 0,1 1,0-1,0 0,1 1,5 3,-1 0,2-1,-1 0,0 0,1-1,0 1,15 3,64 11,-60-14,44 10,-45-7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8-13T15:44:12.99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466 8,'-26'1,"0"2,1 2,0 0,-1 1,2 2,-40 16,14-5,32-12,1-2,-1 0,1 0,-1-2,-1 0,-31 0,49-3,0 0,1 0,-1 0,1 0,-1 0,0-1,1 1,-1 0,0 0,1 0,-1 0,1-1,-1 1,0 0,1-1,-1 1,1 0,-1-1,1 1,-1-1,1 1,-1-1,1 1,0-1,-1 1,1-1,0 1,-1-1,1 1,0-1,-1-1,1 1,0-1,1 0,-1 1,0-1,1 0,-1 1,1-1,-1 1,1-1,0 1,0-1,1-1,35-42,-33 41,17-18,-17 17,-18 17,9-7,-68 55,72-59,1 0,-1-1,0 1,1 0,-1 0,1 0,-1 0,1 0,-1 0,1 0,0 0,-1 0,1 0,0 0,0 0,0 0,0 0,0 1,0-1,0 0,0 0,0 0,1 0,-1 0,0 0,1 0,-1 0,0 0,1 0,0 0,-1 0,1 0,-1-1,1 1,0 0,1 1,34 31,-29-28,165 124,-160-120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8-13T15:44:25.18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21,'559'0,"-529"2,34 5,25 1,174-8,-250 1,1 1,-1 0,1 0,19 8,-18-5,1-1,27 3,120-3,32 3,241 20,4-28,-169-1,-218 2,-11 2,0-2,0-2,0-2,0-2,52-13,-64 11,1 2,0 2,0 0,57 2,29-3,151-10,-72 7,-160 6,124-13,-113 10,1 2,93 8,-73 2,-32-2,40 0,-10-5,-48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8-13T15:44:32.09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69,'571'13,"73"-8,-390-6,-36-8,-15 1,299-9,-264 8,25 1,-150 0,-14 0,24 7,185-12,-250 9,-44 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8-13T15:45:26.92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2,'115'-2,"123"4,-145 6,57 1,0-10,-135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8-13T15:45:28.35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34,'25'-1,"35"-7,-5 1,288-11,-234 18,-93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8-13T15:45:36.74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55,'0'-1,"0"0,0 0,1 0,-1 0,1 1,-1-1,1 0,-1 0,1 0,-1 0,1 1,0-1,-1 0,1 1,0-1,0 0,-1 1,1-1,0 1,0 0,2-1,23-10,-20 9,15-4,-1 0,1 2,0 0,37-1,89 6,-57 1,-67-1,38 7,15 0,1-7,-63-2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8-13T15:45:38.89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1,'278'13,"-201"-8,93-5,-68-2,-86 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8-13T15:45:03.77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214 0,'-4'1,"-1"-1,0 1,1 0,-1 1,0-1,1 1,0 0,-1 0,1 0,-5 4,-43 32,30-20,-4-2,19-12,0-1,1 1,0 1,0 0,0-1,-7 9,12-11,0-1,0 1,0-1,0 1,1-1,-1 1,1 0,-1-1,1 1,-1 0,1 0,0-1,0 1,0 0,0 0,0-1,0 1,1 0,-1 0,0-1,1 1,-1 0,1-1,0 1,0-1,-1 1,1-1,0 1,0-1,1 1,-1-1,2 2,8 8,0 0,0-1,14 8,12 11,-26-18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8-13T15:45:04.57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28,'84'-11,"367"3,-315 9,-68-7,-49 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8-13T15:45:11.71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17,'0'-1,"0"1,1-1,-1 0,1 0,0 0,-1 0,1 1,0-1,-1 0,1 0,0 1,0-1,0 1,0-1,-1 1,1-1,0 1,0-1,0 1,0 0,0-1,0 1,0 0,0 0,0 0,0 0,2 0,34-3,-33 3,444 2,-277 13,17 1,-43-14,-115-2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8-13T15:45:14.45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0,'309'9,"10"-1,-305-8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8-13T15:45:21.76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18,'0'-1,"0"0,1 1,-1-1,1 0,-1 0,1 1,-1-1,1 0,-1 1,1-1,0 0,-1 1,1-1,0 1,0-1,-1 1,1-1,0 1,0 0,0-1,0 1,-1 0,1 0,0 0,0-1,0 1,2 0,30-2,-29 2,323-2,-171 4,-127-2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8-13T15:45:22.30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26 1,'37'33,"-27"-26,-1 0,-1 1,16 18,-23-24,-1-1,0 0,1 0,-1 1,0-1,0 0,0 0,0 1,0-1,0 0,0 1,0-1,-1 0,1 0,-1 1,1-1,0 0,-1 0,0 0,1 0,-1 1,0-1,0 0,1 0,-1 0,0-1,0 1,-1 1,-33 29,30-26,-50 47,47-44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0348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37763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Diminishing returns after 25th epoch</a:t>
            </a:r>
          </a:p>
        </p:txBody>
      </p:sp>
    </p:spTree>
    <p:extLst>
      <p:ext uri="{BB962C8B-B14F-4D97-AF65-F5344CB8AC3E}">
        <p14:creationId xmlns:p14="http://schemas.microsoft.com/office/powerpoint/2010/main" val="30553182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99550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After model 1 and with research, I concluded that LSTM and GRUs don’t have too big of a performance gap.</a:t>
            </a:r>
          </a:p>
        </p:txBody>
      </p:sp>
    </p:spTree>
    <p:extLst>
      <p:ext uri="{BB962C8B-B14F-4D97-AF65-F5344CB8AC3E}">
        <p14:creationId xmlns:p14="http://schemas.microsoft.com/office/powerpoint/2010/main" val="7884996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7509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Diminishing returns after 23</a:t>
            </a:r>
            <a:r>
              <a:rPr lang="en-SG" baseline="30000" dirty="0"/>
              <a:t>rd</a:t>
            </a:r>
            <a:r>
              <a:rPr lang="en-SG" dirty="0"/>
              <a:t> epoch</a:t>
            </a:r>
          </a:p>
        </p:txBody>
      </p:sp>
    </p:spTree>
    <p:extLst>
      <p:ext uri="{BB962C8B-B14F-4D97-AF65-F5344CB8AC3E}">
        <p14:creationId xmlns:p14="http://schemas.microsoft.com/office/powerpoint/2010/main" val="40608676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22304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accen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685800" y="3287213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solidFill>
          <a:schemeClr val="accent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685800" y="2726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685800" y="38306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922000" y="1885951"/>
            <a:ext cx="6866100" cy="23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Clr>
                <a:srgbClr val="FFB600"/>
              </a:buClr>
              <a:buSzPts val="18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rgbClr val="FFB600"/>
              </a:buClr>
              <a:buSzPts val="1800"/>
              <a:buChar char="○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rgbClr val="FFB600"/>
              </a:buClr>
              <a:buSzPts val="18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rgbClr val="FFB600"/>
                </a:solidFill>
              </a:defRPr>
            </a:lvl1pPr>
            <a:lvl2pPr lvl="1">
              <a:buNone/>
              <a:defRPr>
                <a:solidFill>
                  <a:srgbClr val="FFB600"/>
                </a:solidFill>
              </a:defRPr>
            </a:lvl2pPr>
            <a:lvl3pPr lvl="2">
              <a:buNone/>
              <a:defRPr>
                <a:solidFill>
                  <a:srgbClr val="FFB600"/>
                </a:solidFill>
              </a:defRPr>
            </a:lvl3pPr>
            <a:lvl4pPr lvl="3">
              <a:buNone/>
              <a:defRPr>
                <a:solidFill>
                  <a:srgbClr val="FFB600"/>
                </a:solidFill>
              </a:defRPr>
            </a:lvl4pPr>
            <a:lvl5pPr lvl="4">
              <a:buNone/>
              <a:defRPr>
                <a:solidFill>
                  <a:srgbClr val="FFB600"/>
                </a:solidFill>
              </a:defRPr>
            </a:lvl5pPr>
            <a:lvl6pPr lvl="5">
              <a:buNone/>
              <a:defRPr>
                <a:solidFill>
                  <a:srgbClr val="FFB600"/>
                </a:solidFill>
              </a:defRPr>
            </a:lvl6pPr>
            <a:lvl7pPr lvl="6">
              <a:buNone/>
              <a:defRPr>
                <a:solidFill>
                  <a:srgbClr val="FFB600"/>
                </a:solidFill>
              </a:defRPr>
            </a:lvl7pPr>
            <a:lvl8pPr lvl="7">
              <a:buNone/>
              <a:defRPr>
                <a:solidFill>
                  <a:srgbClr val="FFB600"/>
                </a:solidFill>
              </a:defRPr>
            </a:lvl8pPr>
            <a:lvl9pPr lvl="8">
              <a:buNone/>
              <a:defRPr>
                <a:solidFill>
                  <a:srgbClr val="FFB600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10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Raleway Thin"/>
              <a:buNone/>
              <a:defRPr sz="5800">
                <a:solidFill>
                  <a:schemeClr val="dk1"/>
                </a:solidFill>
                <a:latin typeface="Raleway Thin"/>
                <a:ea typeface="Raleway Thin"/>
                <a:cs typeface="Raleway Thin"/>
                <a:sym typeface="Raleway Th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Raleway Thin"/>
              <a:buNone/>
              <a:defRPr sz="5800">
                <a:solidFill>
                  <a:schemeClr val="dk1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Raleway Thin"/>
              <a:buNone/>
              <a:defRPr sz="5800">
                <a:solidFill>
                  <a:schemeClr val="dk1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Raleway Thin"/>
              <a:buNone/>
              <a:defRPr sz="5800">
                <a:solidFill>
                  <a:schemeClr val="dk1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Raleway Thin"/>
              <a:buNone/>
              <a:defRPr sz="5800">
                <a:solidFill>
                  <a:schemeClr val="dk1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Raleway Thin"/>
              <a:buNone/>
              <a:defRPr sz="5800">
                <a:solidFill>
                  <a:schemeClr val="dk1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Raleway Thin"/>
              <a:buNone/>
              <a:defRPr sz="5800">
                <a:solidFill>
                  <a:schemeClr val="dk1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Raleway Thin"/>
              <a:buNone/>
              <a:defRPr sz="5800">
                <a:solidFill>
                  <a:schemeClr val="dk1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Raleway Thin"/>
              <a:buNone/>
              <a:defRPr sz="5800">
                <a:solidFill>
                  <a:schemeClr val="dk1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22000" y="1885951"/>
            <a:ext cx="6866100" cy="23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aleway Thin"/>
              <a:buChar char="●"/>
              <a:defRPr sz="1800">
                <a:solidFill>
                  <a:schemeClr val="dk2"/>
                </a:solidFill>
                <a:latin typeface="Raleway Thin"/>
                <a:ea typeface="Raleway Thin"/>
                <a:cs typeface="Raleway Thin"/>
                <a:sym typeface="Raleway Thin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aleway Thin"/>
              <a:buChar char="○"/>
              <a:defRPr sz="1800">
                <a:solidFill>
                  <a:schemeClr val="dk2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aleway Thin"/>
              <a:buChar char="■"/>
              <a:defRPr sz="1800">
                <a:solidFill>
                  <a:schemeClr val="dk2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aleway Thin"/>
              <a:buChar char="●"/>
              <a:defRPr sz="1800">
                <a:solidFill>
                  <a:schemeClr val="dk2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aleway Thin"/>
              <a:buChar char="○"/>
              <a:defRPr sz="1800">
                <a:solidFill>
                  <a:schemeClr val="dk2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aleway Thin"/>
              <a:buChar char="■"/>
              <a:defRPr sz="1800">
                <a:solidFill>
                  <a:schemeClr val="dk2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aleway Thin"/>
              <a:buChar char="●"/>
              <a:defRPr sz="1800">
                <a:solidFill>
                  <a:schemeClr val="dk2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aleway Thin"/>
              <a:buChar char="○"/>
              <a:defRPr sz="1800">
                <a:solidFill>
                  <a:schemeClr val="dk2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aleway Thin"/>
              <a:buChar char="■"/>
              <a:defRPr sz="1800">
                <a:solidFill>
                  <a:schemeClr val="dk2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 sz="1300">
                <a:solidFill>
                  <a:schemeClr val="accent1"/>
                </a:solidFill>
                <a:latin typeface="Raleway Thin"/>
                <a:ea typeface="Raleway Thin"/>
                <a:cs typeface="Raleway Thin"/>
                <a:sym typeface="Raleway Thin"/>
              </a:defRPr>
            </a:lvl1pPr>
            <a:lvl2pPr lvl="1" algn="ctr">
              <a:buNone/>
              <a:defRPr sz="1300">
                <a:solidFill>
                  <a:schemeClr val="accent1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lvl="2" algn="ctr">
              <a:buNone/>
              <a:defRPr sz="1300">
                <a:solidFill>
                  <a:schemeClr val="accent1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lvl="3" algn="ctr">
              <a:buNone/>
              <a:defRPr sz="1300">
                <a:solidFill>
                  <a:schemeClr val="accent1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lvl="4" algn="ctr">
              <a:buNone/>
              <a:defRPr sz="1300">
                <a:solidFill>
                  <a:schemeClr val="accent1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lvl="5" algn="ctr">
              <a:buNone/>
              <a:defRPr sz="1300">
                <a:solidFill>
                  <a:schemeClr val="accent1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lvl="6" algn="ctr">
              <a:buNone/>
              <a:defRPr sz="1300">
                <a:solidFill>
                  <a:schemeClr val="accent1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lvl="7" algn="ctr">
              <a:buNone/>
              <a:defRPr sz="1300">
                <a:solidFill>
                  <a:schemeClr val="accent1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lvl="8" algn="ctr">
              <a:buNone/>
              <a:defRPr sz="1300">
                <a:solidFill>
                  <a:schemeClr val="accent1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6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12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11" Type="http://schemas.openxmlformats.org/officeDocument/2006/relationships/customXml" Target="../ink/ink6.xml"/><Relationship Id="rId5" Type="http://schemas.openxmlformats.org/officeDocument/2006/relationships/customXml" Target="../ink/ink3.xml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customXml" Target="../ink/ink5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customXml" Target="../ink/ink12.xml"/><Relationship Id="rId18" Type="http://schemas.openxmlformats.org/officeDocument/2006/relationships/image" Target="../media/image33.png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12" Type="http://schemas.openxmlformats.org/officeDocument/2006/relationships/image" Target="../media/image30.png"/><Relationship Id="rId17" Type="http://schemas.openxmlformats.org/officeDocument/2006/relationships/customXml" Target="../ink/ink14.xml"/><Relationship Id="rId2" Type="http://schemas.openxmlformats.org/officeDocument/2006/relationships/image" Target="../media/image25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11" Type="http://schemas.openxmlformats.org/officeDocument/2006/relationships/customXml" Target="../ink/ink11.xml"/><Relationship Id="rId5" Type="http://schemas.openxmlformats.org/officeDocument/2006/relationships/customXml" Target="../ink/ink8.xml"/><Relationship Id="rId15" Type="http://schemas.openxmlformats.org/officeDocument/2006/relationships/customXml" Target="../ink/ink13.xml"/><Relationship Id="rId10" Type="http://schemas.openxmlformats.org/officeDocument/2006/relationships/image" Target="../media/image29.png"/><Relationship Id="rId4" Type="http://schemas.openxmlformats.org/officeDocument/2006/relationships/image" Target="../media/image26.png"/><Relationship Id="rId9" Type="http://schemas.openxmlformats.org/officeDocument/2006/relationships/customXml" Target="../ink/ink10.xml"/><Relationship Id="rId1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customXml" Target="../ink/ink20.xml"/><Relationship Id="rId3" Type="http://schemas.openxmlformats.org/officeDocument/2006/relationships/customXml" Target="../ink/ink15.xml"/><Relationship Id="rId7" Type="http://schemas.openxmlformats.org/officeDocument/2006/relationships/customXml" Target="../ink/ink17.xml"/><Relationship Id="rId12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11" Type="http://schemas.openxmlformats.org/officeDocument/2006/relationships/customXml" Target="../ink/ink19.xml"/><Relationship Id="rId5" Type="http://schemas.openxmlformats.org/officeDocument/2006/relationships/customXml" Target="../ink/ink16.xml"/><Relationship Id="rId10" Type="http://schemas.openxmlformats.org/officeDocument/2006/relationships/image" Target="../media/image38.png"/><Relationship Id="rId4" Type="http://schemas.openxmlformats.org/officeDocument/2006/relationships/image" Target="../media/image35.png"/><Relationship Id="rId9" Type="http://schemas.openxmlformats.org/officeDocument/2006/relationships/customXml" Target="../ink/ink18.xml"/><Relationship Id="rId14" Type="http://schemas.openxmlformats.org/officeDocument/2006/relationships/image" Target="../media/image4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ctrTitle"/>
          </p:nvPr>
        </p:nvSpPr>
        <p:spPr>
          <a:xfrm>
            <a:off x="685800" y="3287213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Assignment 2</a:t>
            </a:r>
            <a:br>
              <a:rPr lang="en" dirty="0"/>
            </a:br>
            <a:r>
              <a:rPr lang="en" sz="4400" dirty="0"/>
              <a:t>Deep Learning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>
            <a:spLocks noGrp="1"/>
          </p:cNvSpPr>
          <p:nvPr>
            <p:ph type="title"/>
          </p:nvPr>
        </p:nvSpPr>
        <p:spPr>
          <a:xfrm>
            <a:off x="922000" y="669899"/>
            <a:ext cx="68661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102" name="Google Shape;102;p17"/>
          <p:cNvSpPr txBox="1">
            <a:spLocks noGrp="1"/>
          </p:cNvSpPr>
          <p:nvPr>
            <p:ph type="body" idx="1"/>
          </p:nvPr>
        </p:nvSpPr>
        <p:spPr>
          <a:xfrm>
            <a:off x="922000" y="1818711"/>
            <a:ext cx="6866100" cy="23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+mj-lt"/>
              <a:buAutoNum type="arabicPeriod"/>
            </a:pPr>
            <a:r>
              <a:rPr lang="en-US" dirty="0"/>
              <a:t>Problem 1</a:t>
            </a:r>
          </a:p>
          <a:p>
            <a:pPr marL="971550" lvl="1" indent="-400050">
              <a:spcBef>
                <a:spcPts val="600"/>
              </a:spcBef>
              <a:buFont typeface="+mj-lt"/>
              <a:buAutoNum type="romanLcPeriod"/>
            </a:pPr>
            <a:r>
              <a:rPr lang="en-US" dirty="0"/>
              <a:t>Overview</a:t>
            </a:r>
          </a:p>
          <a:p>
            <a:pPr marL="971550" lvl="1" indent="-400050">
              <a:spcBef>
                <a:spcPts val="600"/>
              </a:spcBef>
              <a:buFont typeface="+mj-lt"/>
              <a:buAutoNum type="romanLcPeriod"/>
            </a:pPr>
            <a:r>
              <a:rPr lang="en-US" dirty="0"/>
              <a:t>Experimental Setup</a:t>
            </a:r>
          </a:p>
          <a:p>
            <a:pPr marL="971550" lvl="1" indent="-400050">
              <a:spcBef>
                <a:spcPts val="600"/>
              </a:spcBef>
              <a:buFont typeface="+mj-lt"/>
              <a:buAutoNum type="romanLcPeriod"/>
            </a:pPr>
            <a:r>
              <a:rPr lang="en-US" dirty="0"/>
              <a:t>Experimental Results</a:t>
            </a:r>
          </a:p>
          <a:p>
            <a:pPr marL="971550" lvl="1" indent="-400050">
              <a:spcBef>
                <a:spcPts val="600"/>
              </a:spcBef>
              <a:buFont typeface="+mj-lt"/>
              <a:buAutoNum type="romanLcPeriod"/>
            </a:pPr>
            <a:r>
              <a:rPr lang="en-US" dirty="0"/>
              <a:t>Evaluation</a:t>
            </a:r>
          </a:p>
          <a:p>
            <a:pPr marL="971550" lvl="1" indent="-400050">
              <a:spcBef>
                <a:spcPts val="600"/>
              </a:spcBef>
              <a:buFont typeface="+mj-lt"/>
              <a:buAutoNum type="romanLcPeriod"/>
            </a:pPr>
            <a:r>
              <a:rPr lang="en-US" dirty="0"/>
              <a:t>Summary</a:t>
            </a:r>
          </a:p>
          <a:p>
            <a:pPr>
              <a:buFont typeface="+mj-lt"/>
              <a:buAutoNum type="arabicPeriod"/>
            </a:pPr>
            <a:r>
              <a:rPr lang="en-US" dirty="0"/>
              <a:t>Problem 2</a:t>
            </a:r>
          </a:p>
        </p:txBody>
      </p:sp>
      <p:sp>
        <p:nvSpPr>
          <p:cNvPr id="103" name="Google Shape;103;p17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grpSp>
        <p:nvGrpSpPr>
          <p:cNvPr id="104" name="Google Shape;104;p17"/>
          <p:cNvGrpSpPr/>
          <p:nvPr/>
        </p:nvGrpSpPr>
        <p:grpSpPr>
          <a:xfrm>
            <a:off x="8119638" y="225980"/>
            <a:ext cx="539546" cy="879605"/>
            <a:chOff x="6730350" y="2315900"/>
            <a:chExt cx="257700" cy="420100"/>
          </a:xfrm>
        </p:grpSpPr>
        <p:sp>
          <p:nvSpPr>
            <p:cNvPr id="105" name="Google Shape;105;p17"/>
            <p:cNvSpPr/>
            <p:nvPr/>
          </p:nvSpPr>
          <p:spPr>
            <a:xfrm>
              <a:off x="6807900" y="2671250"/>
              <a:ext cx="102600" cy="22625"/>
            </a:xfrm>
            <a:custGeom>
              <a:avLst/>
              <a:gdLst/>
              <a:ahLst/>
              <a:cxnLst/>
              <a:rect l="l" t="t" r="r" b="b"/>
              <a:pathLst>
                <a:path w="4104" h="905" extrusionOk="0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7"/>
            <p:cNvSpPr/>
            <p:nvPr/>
          </p:nvSpPr>
          <p:spPr>
            <a:xfrm>
              <a:off x="6807900" y="2636450"/>
              <a:ext cx="102600" cy="22625"/>
            </a:xfrm>
            <a:custGeom>
              <a:avLst/>
              <a:gdLst/>
              <a:ahLst/>
              <a:cxnLst/>
              <a:rect l="l" t="t" r="r" b="b"/>
              <a:pathLst>
                <a:path w="4104" h="905" extrusionOk="0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7"/>
            <p:cNvSpPr/>
            <p:nvPr/>
          </p:nvSpPr>
          <p:spPr>
            <a:xfrm>
              <a:off x="6807900" y="2706075"/>
              <a:ext cx="102600" cy="29925"/>
            </a:xfrm>
            <a:custGeom>
              <a:avLst/>
              <a:gdLst/>
              <a:ahLst/>
              <a:cxnLst/>
              <a:rect l="l" t="t" r="r" b="b"/>
              <a:pathLst>
                <a:path w="4104" h="1197" extrusionOk="0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7"/>
            <p:cNvSpPr/>
            <p:nvPr/>
          </p:nvSpPr>
          <p:spPr>
            <a:xfrm>
              <a:off x="6811575" y="2463675"/>
              <a:ext cx="95275" cy="160600"/>
            </a:xfrm>
            <a:custGeom>
              <a:avLst/>
              <a:gdLst/>
              <a:ahLst/>
              <a:cxnLst/>
              <a:rect l="l" t="t" r="r" b="b"/>
              <a:pathLst>
                <a:path w="3811" h="6424" extrusionOk="0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7"/>
            <p:cNvSpPr/>
            <p:nvPr/>
          </p:nvSpPr>
          <p:spPr>
            <a:xfrm>
              <a:off x="6730350" y="2315900"/>
              <a:ext cx="257700" cy="308375"/>
            </a:xfrm>
            <a:custGeom>
              <a:avLst/>
              <a:gdLst/>
              <a:ahLst/>
              <a:cxnLst/>
              <a:rect l="l" t="t" r="r" b="b"/>
              <a:pathLst>
                <a:path w="10308" h="12335" extrusionOk="0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24320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ctrTitle" idx="4294967295"/>
          </p:nvPr>
        </p:nvSpPr>
        <p:spPr>
          <a:xfrm>
            <a:off x="685800" y="2269150"/>
            <a:ext cx="4977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accent1"/>
                </a:solidFill>
              </a:rPr>
              <a:t>Problem 1</a:t>
            </a:r>
            <a:endParaRPr sz="7200" dirty="0">
              <a:solidFill>
                <a:schemeClr val="accent1"/>
              </a:solidFill>
            </a:endParaRPr>
          </a:p>
        </p:txBody>
      </p:sp>
      <p:sp>
        <p:nvSpPr>
          <p:cNvPr id="115" name="Google Shape;115;p18"/>
          <p:cNvSpPr txBox="1">
            <a:spLocks noGrp="1"/>
          </p:cNvSpPr>
          <p:nvPr>
            <p:ph type="subTitle" idx="4294967295"/>
          </p:nvPr>
        </p:nvSpPr>
        <p:spPr>
          <a:xfrm>
            <a:off x="685800" y="3411555"/>
            <a:ext cx="49776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9" name="Google Shape;129;p18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ctrTitle"/>
          </p:nvPr>
        </p:nvSpPr>
        <p:spPr>
          <a:xfrm>
            <a:off x="685800" y="2726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Overview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9" name="Google Shape;89;p15"/>
          <p:cNvSpPr txBox="1">
            <a:spLocks noGrp="1"/>
          </p:cNvSpPr>
          <p:nvPr>
            <p:ph type="subTitle" idx="1"/>
          </p:nvPr>
        </p:nvSpPr>
        <p:spPr>
          <a:xfrm>
            <a:off x="685800" y="38306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dirty="0"/>
              <a:t>Problem 1</a:t>
            </a:r>
            <a:endParaRPr dirty="0"/>
          </a:p>
        </p:txBody>
      </p:sp>
      <p:sp>
        <p:nvSpPr>
          <p:cNvPr id="90" name="Google Shape;90;p15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600" dirty="0">
              <a:solidFill>
                <a:schemeClr val="dk1"/>
              </a:solidFill>
              <a:latin typeface="Raleway Thin"/>
              <a:ea typeface="Raleway Thin"/>
              <a:cs typeface="Raleway Thin"/>
              <a:sym typeface="Raleway Thi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C9EE865-DFE2-4ED2-896D-668727C25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000" y="521984"/>
            <a:ext cx="6866100" cy="587401"/>
          </a:xfrm>
        </p:spPr>
        <p:txBody>
          <a:bodyPr/>
          <a:lstStyle/>
          <a:p>
            <a:r>
              <a:rPr lang="en-US" sz="3200" dirty="0"/>
              <a:t>Objective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2CA9037-2DF1-4154-8555-162C3781D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2000" y="1294284"/>
            <a:ext cx="6866100" cy="843798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Build a sentiment analysis model to predict the emoticon for each text input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ED8BC462-C2A5-433B-AC6A-CFC45BD22C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79478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C9EE865-DFE2-4ED2-896D-668727C25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000" y="521984"/>
            <a:ext cx="6866100" cy="587401"/>
          </a:xfrm>
        </p:spPr>
        <p:txBody>
          <a:bodyPr/>
          <a:lstStyle/>
          <a:p>
            <a:r>
              <a:rPr lang="en-US" sz="3200" dirty="0"/>
              <a:t>Dataset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2CA9037-2DF1-4154-8555-162C3781D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2000" y="1294284"/>
            <a:ext cx="6866100" cy="843798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dataset.csv: </a:t>
            </a:r>
          </a:p>
          <a:p>
            <a:pPr marL="114300" indent="0">
              <a:buNone/>
            </a:pPr>
            <a:r>
              <a:rPr lang="en-US" dirty="0"/>
              <a:t>the full dataset which includes text inputs and target labels  </a:t>
            </a:r>
          </a:p>
          <a:p>
            <a:pPr marL="114300" indent="0">
              <a:buNone/>
            </a:pPr>
            <a:r>
              <a:rPr lang="en-US" dirty="0"/>
              <a:t>mapping.csv: </a:t>
            </a:r>
          </a:p>
          <a:p>
            <a:pPr marL="114300" indent="0">
              <a:buNone/>
            </a:pPr>
            <a:r>
              <a:rPr lang="en-US" dirty="0"/>
              <a:t>the emoji dictionary which maps each label to an emoticon 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ED8BC462-C2A5-433B-AC6A-CFC45BD22C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6</a:t>
            </a:fld>
            <a:endParaRPr lang="e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101B24A-1FFF-4E24-9A37-F88B50E366B1}"/>
                  </a:ext>
                </a:extLst>
              </p14:cNvPr>
              <p14:cNvContentPartPr/>
              <p14:nvPr/>
            </p14:nvContentPartPr>
            <p14:xfrm>
              <a:off x="2602632" y="3328248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101B24A-1FFF-4E24-9A37-F88B50E366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93992" y="3319248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BA15B0C-D0E6-4341-AA04-EFDA03358E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4093" y="3328248"/>
            <a:ext cx="4541914" cy="24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044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ctrTitle"/>
          </p:nvPr>
        </p:nvSpPr>
        <p:spPr>
          <a:xfrm>
            <a:off x="685800" y="2726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Experimental Setup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9" name="Google Shape;89;p15"/>
          <p:cNvSpPr txBox="1">
            <a:spLocks noGrp="1"/>
          </p:cNvSpPr>
          <p:nvPr>
            <p:ph type="subTitle" idx="1"/>
          </p:nvPr>
        </p:nvSpPr>
        <p:spPr>
          <a:xfrm>
            <a:off x="685800" y="38306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dirty="0"/>
              <a:t>Problem 1</a:t>
            </a:r>
            <a:endParaRPr dirty="0"/>
          </a:p>
        </p:txBody>
      </p:sp>
      <p:sp>
        <p:nvSpPr>
          <p:cNvPr id="90" name="Google Shape;90;p15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600" dirty="0">
              <a:solidFill>
                <a:schemeClr val="dk1"/>
              </a:solidFill>
              <a:latin typeface="Raleway Thin"/>
              <a:ea typeface="Raleway Thin"/>
              <a:cs typeface="Raleway Thin"/>
              <a:sym typeface="Raleway Thin"/>
            </a:endParaRPr>
          </a:p>
        </p:txBody>
      </p:sp>
    </p:spTree>
    <p:extLst>
      <p:ext uri="{BB962C8B-B14F-4D97-AF65-F5344CB8AC3E}">
        <p14:creationId xmlns:p14="http://schemas.microsoft.com/office/powerpoint/2010/main" val="1410126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C9EE865-DFE2-4ED2-896D-668727C25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000" y="521984"/>
            <a:ext cx="6866100" cy="587401"/>
          </a:xfrm>
        </p:spPr>
        <p:txBody>
          <a:bodyPr/>
          <a:lstStyle/>
          <a:p>
            <a:r>
              <a:rPr lang="en-US" sz="3200" dirty="0"/>
              <a:t>Data Preprocessing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2CA9037-2DF1-4154-8555-162C3781D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2000" y="1294284"/>
            <a:ext cx="6866100" cy="843798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Word Embedding</a:t>
            </a:r>
          </a:p>
          <a:p>
            <a:r>
              <a:rPr lang="en-US" dirty="0"/>
              <a:t>Max features</a:t>
            </a:r>
          </a:p>
          <a:p>
            <a:pPr lvl="1"/>
            <a:r>
              <a:rPr lang="en-US" dirty="0"/>
              <a:t>50000</a:t>
            </a:r>
          </a:p>
          <a:p>
            <a:r>
              <a:rPr lang="en-US" dirty="0"/>
              <a:t>Max length of one sentence</a:t>
            </a:r>
          </a:p>
          <a:p>
            <a:pPr lvl="1"/>
            <a:r>
              <a:rPr lang="en-US" dirty="0"/>
              <a:t>34</a:t>
            </a:r>
          </a:p>
          <a:p>
            <a:r>
              <a:rPr lang="en-US" dirty="0"/>
              <a:t>Padding</a:t>
            </a:r>
          </a:p>
          <a:p>
            <a:pPr lvl="1"/>
            <a:r>
              <a:rPr lang="en-US" dirty="0"/>
              <a:t>post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ED8BC462-C2A5-433B-AC6A-CFC45BD22C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11138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C9EE865-DFE2-4ED2-896D-668727C25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000" y="521984"/>
            <a:ext cx="6866100" cy="587401"/>
          </a:xfrm>
        </p:spPr>
        <p:txBody>
          <a:bodyPr/>
          <a:lstStyle/>
          <a:p>
            <a:r>
              <a:rPr lang="en-US" sz="3200" dirty="0"/>
              <a:t>Data Sampling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2CA9037-2DF1-4154-8555-162C3781D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2000" y="1294284"/>
            <a:ext cx="6866100" cy="843798"/>
          </a:xfrm>
        </p:spPr>
        <p:txBody>
          <a:bodyPr/>
          <a:lstStyle/>
          <a:p>
            <a:r>
              <a:rPr lang="en-US" dirty="0"/>
              <a:t>Split into data and labels</a:t>
            </a:r>
          </a:p>
          <a:p>
            <a:r>
              <a:rPr lang="en-US" dirty="0"/>
              <a:t>Test size</a:t>
            </a:r>
          </a:p>
          <a:p>
            <a:pPr lvl="1"/>
            <a:r>
              <a:rPr lang="en-US" dirty="0"/>
              <a:t>0.2</a:t>
            </a:r>
          </a:p>
          <a:p>
            <a:r>
              <a:rPr lang="en-US" dirty="0"/>
              <a:t>Random state</a:t>
            </a:r>
          </a:p>
          <a:p>
            <a:pPr lvl="1"/>
            <a:r>
              <a:rPr lang="en-US" dirty="0"/>
              <a:t>24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ED8BC462-C2A5-433B-AC6A-CFC45BD22C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9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14F675-ABD7-4E86-ACFE-B892D457F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098" y="1539782"/>
            <a:ext cx="2576352" cy="119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833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C9EE865-DFE2-4ED2-896D-668727C25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000" y="521984"/>
            <a:ext cx="6866100" cy="587401"/>
          </a:xfrm>
        </p:spPr>
        <p:txBody>
          <a:bodyPr/>
          <a:lstStyle/>
          <a:p>
            <a:r>
              <a:rPr lang="en-US" sz="3200" dirty="0"/>
              <a:t>Model Development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2CA9037-2DF1-4154-8555-162C3781D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2000" y="1294284"/>
            <a:ext cx="6866100" cy="843798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Approach</a:t>
            </a:r>
          </a:p>
          <a:p>
            <a:r>
              <a:rPr lang="en-US" dirty="0"/>
              <a:t>Start with a baseline</a:t>
            </a:r>
          </a:p>
          <a:p>
            <a:r>
              <a:rPr lang="en-US" dirty="0"/>
              <a:t>Scale until overfit</a:t>
            </a:r>
          </a:p>
          <a:p>
            <a:r>
              <a:rPr lang="en-US" dirty="0"/>
              <a:t>Regularize accordingly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ED8BC462-C2A5-433B-AC6A-CFC45BD22C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10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95251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ctrTitle"/>
          </p:nvPr>
        </p:nvSpPr>
        <p:spPr>
          <a:xfrm>
            <a:off x="685800" y="2726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Experimental Results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9" name="Google Shape;89;p15"/>
          <p:cNvSpPr txBox="1">
            <a:spLocks noGrp="1"/>
          </p:cNvSpPr>
          <p:nvPr>
            <p:ph type="subTitle" idx="1"/>
          </p:nvPr>
        </p:nvSpPr>
        <p:spPr>
          <a:xfrm>
            <a:off x="685800" y="38306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dirty="0"/>
              <a:t>Problem 1</a:t>
            </a:r>
            <a:endParaRPr dirty="0"/>
          </a:p>
        </p:txBody>
      </p:sp>
      <p:sp>
        <p:nvSpPr>
          <p:cNvPr id="90" name="Google Shape;90;p15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600" dirty="0">
              <a:solidFill>
                <a:schemeClr val="dk1"/>
              </a:solidFill>
              <a:latin typeface="Raleway Thin"/>
              <a:ea typeface="Raleway Thin"/>
              <a:cs typeface="Raleway Thin"/>
              <a:sym typeface="Raleway Thin"/>
            </a:endParaRPr>
          </a:p>
        </p:txBody>
      </p:sp>
    </p:spTree>
    <p:extLst>
      <p:ext uri="{BB962C8B-B14F-4D97-AF65-F5344CB8AC3E}">
        <p14:creationId xmlns:p14="http://schemas.microsoft.com/office/powerpoint/2010/main" val="3986080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C9EE865-DFE2-4ED2-896D-668727C25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000" y="521984"/>
            <a:ext cx="6866100" cy="587401"/>
          </a:xfrm>
        </p:spPr>
        <p:txBody>
          <a:bodyPr/>
          <a:lstStyle/>
          <a:p>
            <a:r>
              <a:rPr lang="en-US" sz="3200" dirty="0"/>
              <a:t>Model 1 (Final)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2CA9037-2DF1-4154-8555-162C3781D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10200" y="1716182"/>
            <a:ext cx="2811800" cy="2417421"/>
          </a:xfrm>
        </p:spPr>
        <p:txBody>
          <a:bodyPr/>
          <a:lstStyle/>
          <a:p>
            <a:r>
              <a:rPr lang="en-US" sz="1400" dirty="0"/>
              <a:t>Word Embedding input</a:t>
            </a:r>
          </a:p>
          <a:p>
            <a:r>
              <a:rPr lang="en-US" sz="1400" dirty="0"/>
              <a:t>3 layers of LSTM</a:t>
            </a:r>
          </a:p>
          <a:p>
            <a:pPr lvl="1"/>
            <a:r>
              <a:rPr lang="en-US" sz="1400" dirty="0"/>
              <a:t>Dropout applied</a:t>
            </a:r>
          </a:p>
          <a:p>
            <a:r>
              <a:rPr lang="en-US" sz="1400" dirty="0"/>
              <a:t>Final dense layer with </a:t>
            </a:r>
            <a:r>
              <a:rPr lang="en-US" sz="1400" dirty="0" err="1"/>
              <a:t>softmax</a:t>
            </a:r>
            <a:r>
              <a:rPr lang="en-US" sz="1400" dirty="0"/>
              <a:t> activation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ED8BC462-C2A5-433B-AC6A-CFC45BD22C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12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FE0BF8-5E23-49DC-A41C-AAEB311A1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78" y="1716183"/>
            <a:ext cx="4938522" cy="241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523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C9EE865-DFE2-4ED2-896D-668727C25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000" y="521984"/>
            <a:ext cx="6866100" cy="587401"/>
          </a:xfrm>
        </p:spPr>
        <p:txBody>
          <a:bodyPr/>
          <a:lstStyle/>
          <a:p>
            <a:r>
              <a:rPr lang="en-US" sz="3200" dirty="0"/>
              <a:t>Model 1 (Final)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2CA9037-2DF1-4154-8555-162C3781D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4559" y="1716182"/>
            <a:ext cx="3077441" cy="2417421"/>
          </a:xfrm>
        </p:spPr>
        <p:txBody>
          <a:bodyPr/>
          <a:lstStyle/>
          <a:p>
            <a:r>
              <a:rPr lang="en-US" sz="1400" dirty="0"/>
              <a:t>Overfits after a few epochs</a:t>
            </a:r>
          </a:p>
          <a:p>
            <a:pPr lvl="1"/>
            <a:r>
              <a:rPr lang="en-US" sz="1400" dirty="0"/>
              <a:t>local minima</a:t>
            </a:r>
          </a:p>
          <a:p>
            <a:r>
              <a:rPr lang="en-US" sz="1400" dirty="0"/>
              <a:t>Accuracy</a:t>
            </a:r>
          </a:p>
          <a:p>
            <a:pPr lvl="1"/>
            <a:r>
              <a:rPr lang="en-US" sz="1400" dirty="0"/>
              <a:t>~64%</a:t>
            </a:r>
          </a:p>
          <a:p>
            <a:r>
              <a:rPr lang="en-US" sz="1400" dirty="0"/>
              <a:t>Loss</a:t>
            </a:r>
          </a:p>
          <a:p>
            <a:pPr lvl="1"/>
            <a:r>
              <a:rPr lang="en-US" sz="1400" dirty="0"/>
              <a:t>1.2&lt;</a:t>
            </a:r>
          </a:p>
          <a:p>
            <a:r>
              <a:rPr lang="en-US" sz="1400" dirty="0"/>
              <a:t>Time per epoch</a:t>
            </a:r>
          </a:p>
          <a:p>
            <a:pPr lvl="1"/>
            <a:r>
              <a:rPr lang="en-US" sz="1400" dirty="0"/>
              <a:t>~30 seconds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ED8BC462-C2A5-433B-AC6A-CFC45BD22C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13</a:t>
            </a:fld>
            <a:endParaRPr lang="en"/>
          </a:p>
        </p:txBody>
      </p:sp>
      <p:pic>
        <p:nvPicPr>
          <p:cNvPr id="4" name="Picture 3" descr="A close up of a map&#10;&#10;Description automatically generated">
            <a:extLst>
              <a:ext uri="{FF2B5EF4-FFF2-40B4-BE49-F238E27FC236}">
                <a16:creationId xmlns:a16="http://schemas.microsoft.com/office/drawing/2014/main" id="{A7CF57E4-074D-4026-982B-08A4CA21A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365" y="1349533"/>
            <a:ext cx="2381077" cy="315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532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C9EE865-DFE2-4ED2-896D-668727C25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000" y="521984"/>
            <a:ext cx="6866100" cy="587401"/>
          </a:xfrm>
        </p:spPr>
        <p:txBody>
          <a:bodyPr/>
          <a:lstStyle/>
          <a:p>
            <a:r>
              <a:rPr lang="en-US" sz="3200" dirty="0"/>
              <a:t>Model 2 (Final)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2CA9037-2DF1-4154-8555-162C3781D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10200" y="1716182"/>
            <a:ext cx="2811800" cy="2417421"/>
          </a:xfrm>
        </p:spPr>
        <p:txBody>
          <a:bodyPr/>
          <a:lstStyle/>
          <a:p>
            <a:r>
              <a:rPr lang="en-US" sz="1400" dirty="0"/>
              <a:t>Word Embedding input</a:t>
            </a:r>
          </a:p>
          <a:p>
            <a:pPr lvl="1"/>
            <a:r>
              <a:rPr lang="en-US" sz="1400" dirty="0"/>
              <a:t>Pretrained on Glove </a:t>
            </a:r>
          </a:p>
          <a:p>
            <a:pPr lvl="1"/>
            <a:r>
              <a:rPr lang="en-US" sz="1400" dirty="0" err="1"/>
              <a:t>embedding_dim</a:t>
            </a:r>
            <a:r>
              <a:rPr lang="en-US" sz="1400" dirty="0"/>
              <a:t>=50</a:t>
            </a:r>
          </a:p>
          <a:p>
            <a:r>
              <a:rPr lang="en-US" sz="1400" dirty="0"/>
              <a:t>2 layers GRU</a:t>
            </a:r>
          </a:p>
          <a:p>
            <a:pPr lvl="1"/>
            <a:r>
              <a:rPr lang="en-US" sz="1400" dirty="0"/>
              <a:t>Dropout applied</a:t>
            </a:r>
          </a:p>
          <a:p>
            <a:r>
              <a:rPr lang="en-US" sz="1400" dirty="0"/>
              <a:t>Final dense layer with </a:t>
            </a:r>
            <a:r>
              <a:rPr lang="en-US" sz="1400" dirty="0" err="1"/>
              <a:t>softmax</a:t>
            </a:r>
            <a:r>
              <a:rPr lang="en-US" sz="1400" dirty="0"/>
              <a:t> activation</a:t>
            </a:r>
          </a:p>
          <a:p>
            <a:r>
              <a:rPr lang="en-US" sz="1400" dirty="0"/>
              <a:t>Trained over pretrained weight</a:t>
            </a:r>
          </a:p>
          <a:p>
            <a:r>
              <a:rPr lang="en-US" sz="1400" dirty="0"/>
              <a:t>Parameters trainable</a:t>
            </a:r>
          </a:p>
          <a:p>
            <a:pPr lvl="1"/>
            <a:r>
              <a:rPr lang="en-US" sz="1400" dirty="0"/>
              <a:t>2,571,813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ED8BC462-C2A5-433B-AC6A-CFC45BD22C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14</a:t>
            </a:fld>
            <a:endParaRPr lang="e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8D6735-96AE-4754-89E5-D3D4E420D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00" y="1558052"/>
            <a:ext cx="4040650" cy="257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058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C9EE865-DFE2-4ED2-896D-668727C25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000" y="521984"/>
            <a:ext cx="6866100" cy="587401"/>
          </a:xfrm>
        </p:spPr>
        <p:txBody>
          <a:bodyPr/>
          <a:lstStyle/>
          <a:p>
            <a:r>
              <a:rPr lang="en-US" sz="3200" dirty="0"/>
              <a:t>Model 2 (Final)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2CA9037-2DF1-4154-8555-162C3781D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4559" y="1716182"/>
            <a:ext cx="3077441" cy="2417421"/>
          </a:xfrm>
        </p:spPr>
        <p:txBody>
          <a:bodyPr/>
          <a:lstStyle/>
          <a:p>
            <a:r>
              <a:rPr lang="en-US" sz="1400" dirty="0"/>
              <a:t>Overfits after 8 epochs</a:t>
            </a:r>
          </a:p>
          <a:p>
            <a:r>
              <a:rPr lang="en-US" sz="1400" dirty="0"/>
              <a:t>Accuracy</a:t>
            </a:r>
          </a:p>
          <a:p>
            <a:pPr lvl="1"/>
            <a:r>
              <a:rPr lang="en-US" sz="1400" dirty="0"/>
              <a:t>~66%</a:t>
            </a:r>
          </a:p>
          <a:p>
            <a:r>
              <a:rPr lang="en-US" sz="1400" dirty="0"/>
              <a:t>Loss</a:t>
            </a:r>
          </a:p>
          <a:p>
            <a:pPr lvl="1"/>
            <a:r>
              <a:rPr lang="en-US" sz="1400" dirty="0"/>
              <a:t>1.1&lt;</a:t>
            </a:r>
          </a:p>
          <a:p>
            <a:r>
              <a:rPr lang="en-US" sz="1400" dirty="0"/>
              <a:t>Time per epoch</a:t>
            </a:r>
          </a:p>
          <a:p>
            <a:pPr lvl="1"/>
            <a:r>
              <a:rPr lang="en-US" sz="1400" dirty="0"/>
              <a:t>~25 seconds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ED8BC462-C2A5-433B-AC6A-CFC45BD22C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15</a:t>
            </a:fld>
            <a:endParaRPr lang="en"/>
          </a:p>
        </p:txBody>
      </p:sp>
      <p:pic>
        <p:nvPicPr>
          <p:cNvPr id="3" name="Picture 2" descr="A close up of a map&#10;&#10;Description automatically generated">
            <a:extLst>
              <a:ext uri="{FF2B5EF4-FFF2-40B4-BE49-F238E27FC236}">
                <a16:creationId xmlns:a16="http://schemas.microsoft.com/office/drawing/2014/main" id="{67E0F828-9081-46FF-B901-3EEE5A042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509" y="1314359"/>
            <a:ext cx="2321933" cy="322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314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ctrTitle"/>
          </p:nvPr>
        </p:nvSpPr>
        <p:spPr>
          <a:xfrm>
            <a:off x="685800" y="2726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Evaluation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9" name="Google Shape;89;p15"/>
          <p:cNvSpPr txBox="1">
            <a:spLocks noGrp="1"/>
          </p:cNvSpPr>
          <p:nvPr>
            <p:ph type="subTitle" idx="1"/>
          </p:nvPr>
        </p:nvSpPr>
        <p:spPr>
          <a:xfrm>
            <a:off x="685800" y="38306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dirty="0"/>
              <a:t>Problem 1</a:t>
            </a:r>
            <a:endParaRPr dirty="0"/>
          </a:p>
        </p:txBody>
      </p:sp>
      <p:sp>
        <p:nvSpPr>
          <p:cNvPr id="90" name="Google Shape;90;p15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600" dirty="0">
              <a:solidFill>
                <a:schemeClr val="dk1"/>
              </a:solidFill>
              <a:latin typeface="Raleway Thin"/>
              <a:ea typeface="Raleway Thin"/>
              <a:cs typeface="Raleway Thin"/>
              <a:sym typeface="Raleway Thin"/>
            </a:endParaRPr>
          </a:p>
        </p:txBody>
      </p:sp>
    </p:spTree>
    <p:extLst>
      <p:ext uri="{BB962C8B-B14F-4D97-AF65-F5344CB8AC3E}">
        <p14:creationId xmlns:p14="http://schemas.microsoft.com/office/powerpoint/2010/main" val="3288565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C9EE865-DFE2-4ED2-896D-668727C25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000" y="521984"/>
            <a:ext cx="6866100" cy="587401"/>
          </a:xfrm>
        </p:spPr>
        <p:txBody>
          <a:bodyPr/>
          <a:lstStyle/>
          <a:p>
            <a:r>
              <a:rPr lang="en-US" sz="3200" dirty="0"/>
              <a:t>Evaluation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2CA9037-2DF1-4154-8555-162C3781D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2000" y="1294284"/>
            <a:ext cx="6866100" cy="587401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Model 1 Final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ED8BC462-C2A5-433B-AC6A-CFC45BD22C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17</a:t>
            </a:fld>
            <a:endParaRPr lang="en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7642C82-4A52-4B17-8F90-BE2A032DB508}"/>
              </a:ext>
            </a:extLst>
          </p:cNvPr>
          <p:cNvSpPr txBox="1">
            <a:spLocks/>
          </p:cNvSpPr>
          <p:nvPr/>
        </p:nvSpPr>
        <p:spPr>
          <a:xfrm>
            <a:off x="922000" y="2674415"/>
            <a:ext cx="6866100" cy="587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B600"/>
              </a:buClr>
              <a:buSzPts val="1800"/>
              <a:buFont typeface="Raleway Thin"/>
              <a:buChar char="●"/>
              <a:defRPr sz="1800" b="0" i="0" u="none" strike="noStrike" cap="none">
                <a:solidFill>
                  <a:schemeClr val="dk2"/>
                </a:solidFill>
                <a:latin typeface="Raleway Thin"/>
                <a:ea typeface="Raleway Thin"/>
                <a:cs typeface="Raleway Thin"/>
                <a:sym typeface="Raleway Thin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600"/>
              </a:buClr>
              <a:buSzPts val="1800"/>
              <a:buFont typeface="Raleway Thin"/>
              <a:buChar char="○"/>
              <a:defRPr sz="1800" b="0" i="0" u="none" strike="noStrike" cap="none">
                <a:solidFill>
                  <a:schemeClr val="dk2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600"/>
              </a:buClr>
              <a:buSzPts val="1800"/>
              <a:buFont typeface="Raleway Thin"/>
              <a:buChar char="■"/>
              <a:defRPr sz="1800" b="0" i="0" u="none" strike="noStrike" cap="none">
                <a:solidFill>
                  <a:schemeClr val="dk2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aleway Thin"/>
              <a:buChar char="●"/>
              <a:defRPr sz="1800" b="0" i="0" u="none" strike="noStrike" cap="none">
                <a:solidFill>
                  <a:schemeClr val="dk2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aleway Thin"/>
              <a:buChar char="○"/>
              <a:defRPr sz="1800" b="0" i="0" u="none" strike="noStrike" cap="none">
                <a:solidFill>
                  <a:schemeClr val="dk2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aleway Thin"/>
              <a:buChar char="■"/>
              <a:defRPr sz="1800" b="0" i="0" u="none" strike="noStrike" cap="none">
                <a:solidFill>
                  <a:schemeClr val="dk2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aleway Thin"/>
              <a:buChar char="●"/>
              <a:defRPr sz="1800" b="0" i="0" u="none" strike="noStrike" cap="none">
                <a:solidFill>
                  <a:schemeClr val="dk2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aleway Thin"/>
              <a:buChar char="○"/>
              <a:defRPr sz="1800" b="0" i="0" u="none" strike="noStrike" cap="none">
                <a:solidFill>
                  <a:schemeClr val="dk2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aleway Thin"/>
              <a:buChar char="■"/>
              <a:defRPr sz="1800" b="0" i="0" u="none" strike="noStrike" cap="none">
                <a:solidFill>
                  <a:schemeClr val="dk2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>
            <a:pPr marL="114300" indent="0">
              <a:buFont typeface="Raleway Thin"/>
              <a:buNone/>
            </a:pPr>
            <a:r>
              <a:rPr lang="en-US" dirty="0"/>
              <a:t>Model 2 Final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ED9496-AD3C-4B9E-83E9-47BA3646D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949" y="3491691"/>
            <a:ext cx="6866101" cy="3255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58CBFD-21E9-414A-9118-7791F4CD1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949" y="2105248"/>
            <a:ext cx="6554115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154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C9EE865-DFE2-4ED2-896D-668727C25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000" y="521984"/>
            <a:ext cx="6866100" cy="587401"/>
          </a:xfrm>
        </p:spPr>
        <p:txBody>
          <a:bodyPr/>
          <a:lstStyle/>
          <a:p>
            <a:r>
              <a:rPr lang="en-US" sz="3200" dirty="0"/>
              <a:t>Best Model (Problem 1)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2CA9037-2DF1-4154-8555-162C3781D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2000" y="1294284"/>
            <a:ext cx="6866100" cy="843798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Model 2 chosen</a:t>
            </a:r>
          </a:p>
          <a:p>
            <a:r>
              <a:rPr lang="en-US" dirty="0"/>
              <a:t>Lower loss (14.6%)</a:t>
            </a:r>
          </a:p>
          <a:p>
            <a:pPr lvl="1"/>
            <a:r>
              <a:rPr lang="en-US" dirty="0"/>
              <a:t>1.02 to 1.19</a:t>
            </a:r>
          </a:p>
          <a:p>
            <a:pPr lvl="1"/>
            <a:r>
              <a:rPr lang="en-US" dirty="0"/>
              <a:t>More confident</a:t>
            </a:r>
          </a:p>
          <a:p>
            <a:r>
              <a:rPr lang="en-US" dirty="0"/>
              <a:t>Higher accuracy</a:t>
            </a:r>
          </a:p>
          <a:p>
            <a:pPr lvl="1"/>
            <a:r>
              <a:rPr lang="en-US" dirty="0"/>
              <a:t>66% to 63%</a:t>
            </a:r>
          </a:p>
          <a:p>
            <a:r>
              <a:rPr lang="en-US" dirty="0"/>
              <a:t>Faster training time</a:t>
            </a:r>
          </a:p>
          <a:p>
            <a:pPr lvl="1"/>
            <a:r>
              <a:rPr lang="en-US" dirty="0"/>
              <a:t>25s to 30s</a:t>
            </a:r>
          </a:p>
          <a:p>
            <a:pPr lvl="1"/>
            <a:r>
              <a:rPr lang="en-US" dirty="0"/>
              <a:t>More computationally efficient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ED8BC462-C2A5-433B-AC6A-CFC45BD22C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18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501331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C9EE865-DFE2-4ED2-896D-668727C25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000" y="521984"/>
            <a:ext cx="6866100" cy="587401"/>
          </a:xfrm>
        </p:spPr>
        <p:txBody>
          <a:bodyPr/>
          <a:lstStyle/>
          <a:p>
            <a:r>
              <a:rPr lang="en-US" sz="3200" dirty="0"/>
              <a:t>Best Model’s Predictions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2CA9037-2DF1-4154-8555-162C3781D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2000" y="1294284"/>
            <a:ext cx="6866100" cy="843798"/>
          </a:xfrm>
        </p:spPr>
        <p:txBody>
          <a:bodyPr/>
          <a:lstStyle/>
          <a:p>
            <a:pPr marL="114300" indent="0">
              <a:buNone/>
            </a:pPr>
            <a:endParaRPr lang="en-US" dirty="0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ED8BC462-C2A5-433B-AC6A-CFC45BD22C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19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5B4322-62C0-440C-97D5-EED029F80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00" y="1294284"/>
            <a:ext cx="4220164" cy="4953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94F42A-F9CF-4CCC-BE0F-AC6C6A3CD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00" y="1890397"/>
            <a:ext cx="4058216" cy="4953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5F5AD9-A3CC-46F7-82D8-DCA21C0074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000" y="2486510"/>
            <a:ext cx="4134427" cy="4763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D588AD-F388-4215-8F4F-BEF670C68A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00" y="3063570"/>
            <a:ext cx="2857899" cy="4477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DC2EE3F-68F1-4FE4-9440-4EF3ADDB0E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000" y="3612051"/>
            <a:ext cx="3334215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90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C9EE865-DFE2-4ED2-896D-668727C25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000" y="521984"/>
            <a:ext cx="6866100" cy="587401"/>
          </a:xfrm>
        </p:spPr>
        <p:txBody>
          <a:bodyPr/>
          <a:lstStyle/>
          <a:p>
            <a:r>
              <a:rPr lang="en-US" sz="3200" dirty="0"/>
              <a:t>Summary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2CA9037-2DF1-4154-8555-162C3781D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2000" y="1294284"/>
            <a:ext cx="6866100" cy="843798"/>
          </a:xfrm>
        </p:spPr>
        <p:txBody>
          <a:bodyPr/>
          <a:lstStyle/>
          <a:p>
            <a:r>
              <a:rPr lang="en-US" dirty="0"/>
              <a:t>Best model performed as expected</a:t>
            </a:r>
          </a:p>
          <a:p>
            <a:endParaRPr lang="en-US" dirty="0"/>
          </a:p>
          <a:p>
            <a:r>
              <a:rPr lang="en-US" dirty="0"/>
              <a:t>Non-English records could have been removed from the dataset</a:t>
            </a:r>
          </a:p>
          <a:p>
            <a:endParaRPr lang="en-US" dirty="0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ED8BC462-C2A5-433B-AC6A-CFC45BD22C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20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51376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ctrTitle" idx="4294967295"/>
          </p:nvPr>
        </p:nvSpPr>
        <p:spPr>
          <a:xfrm>
            <a:off x="685800" y="2269150"/>
            <a:ext cx="4977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accent1"/>
                </a:solidFill>
              </a:rPr>
              <a:t>Problem 2</a:t>
            </a:r>
            <a:endParaRPr sz="7200" dirty="0">
              <a:solidFill>
                <a:schemeClr val="accent1"/>
              </a:solidFill>
            </a:endParaRPr>
          </a:p>
        </p:txBody>
      </p:sp>
      <p:sp>
        <p:nvSpPr>
          <p:cNvPr id="115" name="Google Shape;115;p18"/>
          <p:cNvSpPr txBox="1">
            <a:spLocks noGrp="1"/>
          </p:cNvSpPr>
          <p:nvPr>
            <p:ph type="subTitle" idx="4294967295"/>
          </p:nvPr>
        </p:nvSpPr>
        <p:spPr>
          <a:xfrm>
            <a:off x="685800" y="3411555"/>
            <a:ext cx="49776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9" name="Google Shape;129;p18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59206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ctrTitle"/>
          </p:nvPr>
        </p:nvSpPr>
        <p:spPr>
          <a:xfrm>
            <a:off x="685800" y="2726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Overview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9" name="Google Shape;89;p15"/>
          <p:cNvSpPr txBox="1">
            <a:spLocks noGrp="1"/>
          </p:cNvSpPr>
          <p:nvPr>
            <p:ph type="subTitle" idx="1"/>
          </p:nvPr>
        </p:nvSpPr>
        <p:spPr>
          <a:xfrm>
            <a:off x="685800" y="38306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dirty="0"/>
              <a:t>Problem 2</a:t>
            </a:r>
            <a:endParaRPr dirty="0"/>
          </a:p>
        </p:txBody>
      </p:sp>
      <p:sp>
        <p:nvSpPr>
          <p:cNvPr id="90" name="Google Shape;90;p15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600" dirty="0">
              <a:solidFill>
                <a:schemeClr val="dk1"/>
              </a:solidFill>
              <a:latin typeface="Raleway Thin"/>
              <a:ea typeface="Raleway Thin"/>
              <a:cs typeface="Raleway Thin"/>
              <a:sym typeface="Raleway Thin"/>
            </a:endParaRPr>
          </a:p>
        </p:txBody>
      </p:sp>
    </p:spTree>
    <p:extLst>
      <p:ext uri="{BB962C8B-B14F-4D97-AF65-F5344CB8AC3E}">
        <p14:creationId xmlns:p14="http://schemas.microsoft.com/office/powerpoint/2010/main" val="30535299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C9EE865-DFE2-4ED2-896D-668727C25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000" y="521984"/>
            <a:ext cx="6866100" cy="587401"/>
          </a:xfrm>
        </p:spPr>
        <p:txBody>
          <a:bodyPr/>
          <a:lstStyle/>
          <a:p>
            <a:r>
              <a:rPr lang="en-US" sz="3200" dirty="0"/>
              <a:t>Objective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2CA9037-2DF1-4154-8555-162C3781D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2000" y="1294284"/>
            <a:ext cx="6866100" cy="843798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Using RNNs, create an English language text generator</a:t>
            </a:r>
          </a:p>
          <a:p>
            <a:r>
              <a:rPr lang="en-US" dirty="0"/>
              <a:t>character by character</a:t>
            </a:r>
          </a:p>
          <a:p>
            <a:r>
              <a:rPr lang="en-US" dirty="0"/>
              <a:t>semi-coherent text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ED8BC462-C2A5-433B-AC6A-CFC45BD22C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23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996745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C9EE865-DFE2-4ED2-896D-668727C25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000" y="521984"/>
            <a:ext cx="6866100" cy="587401"/>
          </a:xfrm>
        </p:spPr>
        <p:txBody>
          <a:bodyPr/>
          <a:lstStyle/>
          <a:p>
            <a:r>
              <a:rPr lang="en-US" sz="3200" dirty="0"/>
              <a:t>Dataset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2CA9037-2DF1-4154-8555-162C3781D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2000" y="1294284"/>
            <a:ext cx="6866100" cy="843798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holmes.txt:</a:t>
            </a:r>
          </a:p>
          <a:p>
            <a:pPr marL="114300" indent="0">
              <a:buNone/>
            </a:pPr>
            <a:r>
              <a:rPr lang="en-US" dirty="0"/>
              <a:t>the full text of “The Adventures of Sherlock Holmes”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ED8BC462-C2A5-433B-AC6A-CFC45BD22C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24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440248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ctrTitle"/>
          </p:nvPr>
        </p:nvSpPr>
        <p:spPr>
          <a:xfrm>
            <a:off x="685800" y="2726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Experimental Setup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9" name="Google Shape;89;p15"/>
          <p:cNvSpPr txBox="1">
            <a:spLocks noGrp="1"/>
          </p:cNvSpPr>
          <p:nvPr>
            <p:ph type="subTitle" idx="1"/>
          </p:nvPr>
        </p:nvSpPr>
        <p:spPr>
          <a:xfrm>
            <a:off x="685800" y="38306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dirty="0"/>
              <a:t>Problem 2</a:t>
            </a:r>
            <a:endParaRPr dirty="0"/>
          </a:p>
        </p:txBody>
      </p:sp>
      <p:sp>
        <p:nvSpPr>
          <p:cNvPr id="90" name="Google Shape;90;p15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600" dirty="0">
              <a:solidFill>
                <a:schemeClr val="dk1"/>
              </a:solidFill>
              <a:latin typeface="Raleway Thin"/>
              <a:ea typeface="Raleway Thin"/>
              <a:cs typeface="Raleway Thin"/>
              <a:sym typeface="Raleway Thin"/>
            </a:endParaRPr>
          </a:p>
        </p:txBody>
      </p:sp>
    </p:spTree>
    <p:extLst>
      <p:ext uri="{BB962C8B-B14F-4D97-AF65-F5344CB8AC3E}">
        <p14:creationId xmlns:p14="http://schemas.microsoft.com/office/powerpoint/2010/main" val="4914467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C9EE865-DFE2-4ED2-896D-668727C25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000" y="521984"/>
            <a:ext cx="6866100" cy="587401"/>
          </a:xfrm>
        </p:spPr>
        <p:txBody>
          <a:bodyPr/>
          <a:lstStyle/>
          <a:p>
            <a:r>
              <a:rPr lang="en-US" sz="3200" dirty="0"/>
              <a:t>Data Preprocessing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2CA9037-2DF1-4154-8555-162C3781D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2000" y="1294284"/>
            <a:ext cx="6866100" cy="843798"/>
          </a:xfrm>
        </p:spPr>
        <p:txBody>
          <a:bodyPr/>
          <a:lstStyle/>
          <a:p>
            <a:r>
              <a:rPr lang="en-US" dirty="0"/>
              <a:t>Stripped all “\r” and “\n” from dataset</a:t>
            </a:r>
          </a:p>
          <a:p>
            <a:r>
              <a:rPr lang="en-US" dirty="0"/>
              <a:t>Removed any character that isn’t in the following image</a:t>
            </a:r>
          </a:p>
          <a:p>
            <a:endParaRPr lang="en-US" dirty="0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ED8BC462-C2A5-433B-AC6A-CFC45BD22C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26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9C1BFC-EC90-4A55-882C-4C50D7959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4783" y="2321926"/>
            <a:ext cx="5620534" cy="381053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702271E-922C-443D-8954-4E878462DE97}"/>
              </a:ext>
            </a:extLst>
          </p:cNvPr>
          <p:cNvSpPr txBox="1">
            <a:spLocks/>
          </p:cNvSpPr>
          <p:nvPr/>
        </p:nvSpPr>
        <p:spPr>
          <a:xfrm>
            <a:off x="922000" y="2821574"/>
            <a:ext cx="6866100" cy="843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B600"/>
              </a:buClr>
              <a:buSzPts val="1800"/>
              <a:buFont typeface="Raleway Thin"/>
              <a:buChar char="●"/>
              <a:defRPr sz="1800" b="0" i="0" u="none" strike="noStrike" cap="none">
                <a:solidFill>
                  <a:schemeClr val="dk2"/>
                </a:solidFill>
                <a:latin typeface="Raleway Thin"/>
                <a:ea typeface="Raleway Thin"/>
                <a:cs typeface="Raleway Thin"/>
                <a:sym typeface="Raleway Thin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600"/>
              </a:buClr>
              <a:buSzPts val="1800"/>
              <a:buFont typeface="Raleway Thin"/>
              <a:buChar char="○"/>
              <a:defRPr sz="1800" b="0" i="0" u="none" strike="noStrike" cap="none">
                <a:solidFill>
                  <a:schemeClr val="dk2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600"/>
              </a:buClr>
              <a:buSzPts val="1800"/>
              <a:buFont typeface="Raleway Thin"/>
              <a:buChar char="■"/>
              <a:defRPr sz="1800" b="0" i="0" u="none" strike="noStrike" cap="none">
                <a:solidFill>
                  <a:schemeClr val="dk2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aleway Thin"/>
              <a:buChar char="●"/>
              <a:defRPr sz="1800" b="0" i="0" u="none" strike="noStrike" cap="none">
                <a:solidFill>
                  <a:schemeClr val="dk2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aleway Thin"/>
              <a:buChar char="○"/>
              <a:defRPr sz="1800" b="0" i="0" u="none" strike="noStrike" cap="none">
                <a:solidFill>
                  <a:schemeClr val="dk2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aleway Thin"/>
              <a:buChar char="■"/>
              <a:defRPr sz="1800" b="0" i="0" u="none" strike="noStrike" cap="none">
                <a:solidFill>
                  <a:schemeClr val="dk2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aleway Thin"/>
              <a:buChar char="●"/>
              <a:defRPr sz="1800" b="0" i="0" u="none" strike="noStrike" cap="none">
                <a:solidFill>
                  <a:schemeClr val="dk2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aleway Thin"/>
              <a:buChar char="○"/>
              <a:defRPr sz="1800" b="0" i="0" u="none" strike="noStrike" cap="none">
                <a:solidFill>
                  <a:schemeClr val="dk2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aleway Thin"/>
              <a:buChar char="■"/>
              <a:defRPr sz="1800" b="0" i="0" u="none" strike="noStrike" cap="none">
                <a:solidFill>
                  <a:schemeClr val="dk2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>
            <a:r>
              <a:rPr lang="en-US" dirty="0"/>
              <a:t>Removed all chapter titles</a:t>
            </a:r>
          </a:p>
          <a:p>
            <a:r>
              <a:rPr lang="en-US" dirty="0"/>
              <a:t>Removed uploader’s mark at the end of the dataset</a:t>
            </a:r>
          </a:p>
          <a:p>
            <a:r>
              <a:rPr lang="en-US" dirty="0"/>
              <a:t>One-hot encoding for Model 1</a:t>
            </a:r>
          </a:p>
          <a:p>
            <a:r>
              <a:rPr lang="en-US" dirty="0"/>
              <a:t>Word embedding for Model 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9809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C9EE865-DFE2-4ED2-896D-668727C25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000" y="521984"/>
            <a:ext cx="6866100" cy="587401"/>
          </a:xfrm>
        </p:spPr>
        <p:txBody>
          <a:bodyPr/>
          <a:lstStyle/>
          <a:p>
            <a:r>
              <a:rPr lang="en-US" sz="3200" dirty="0"/>
              <a:t>Model Development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2CA9037-2DF1-4154-8555-162C3781D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2000" y="1294284"/>
            <a:ext cx="6866100" cy="843798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Approach</a:t>
            </a:r>
          </a:p>
          <a:p>
            <a:r>
              <a:rPr lang="en-US" dirty="0"/>
              <a:t>Start with a baseline</a:t>
            </a:r>
          </a:p>
          <a:p>
            <a:r>
              <a:rPr lang="en-US" dirty="0"/>
              <a:t>Experiment until lowest loss is achieved</a:t>
            </a:r>
          </a:p>
          <a:p>
            <a:r>
              <a:rPr lang="en-US" dirty="0"/>
              <a:t>Regularize accordingly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ED8BC462-C2A5-433B-AC6A-CFC45BD22C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27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350152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ctrTitle"/>
          </p:nvPr>
        </p:nvSpPr>
        <p:spPr>
          <a:xfrm>
            <a:off x="685800" y="2726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Experimental Results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9" name="Google Shape;89;p15"/>
          <p:cNvSpPr txBox="1">
            <a:spLocks noGrp="1"/>
          </p:cNvSpPr>
          <p:nvPr>
            <p:ph type="subTitle" idx="1"/>
          </p:nvPr>
        </p:nvSpPr>
        <p:spPr>
          <a:xfrm>
            <a:off x="685800" y="38306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dirty="0"/>
              <a:t>Problem 2</a:t>
            </a:r>
            <a:endParaRPr dirty="0"/>
          </a:p>
        </p:txBody>
      </p:sp>
      <p:sp>
        <p:nvSpPr>
          <p:cNvPr id="90" name="Google Shape;90;p15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600" dirty="0">
              <a:solidFill>
                <a:schemeClr val="dk1"/>
              </a:solidFill>
              <a:latin typeface="Raleway Thin"/>
              <a:ea typeface="Raleway Thin"/>
              <a:cs typeface="Raleway Thin"/>
              <a:sym typeface="Raleway Thin"/>
            </a:endParaRPr>
          </a:p>
        </p:txBody>
      </p:sp>
    </p:spTree>
    <p:extLst>
      <p:ext uri="{BB962C8B-B14F-4D97-AF65-F5344CB8AC3E}">
        <p14:creationId xmlns:p14="http://schemas.microsoft.com/office/powerpoint/2010/main" val="28833714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C9EE865-DFE2-4ED2-896D-668727C25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000" y="521984"/>
            <a:ext cx="6866100" cy="587401"/>
          </a:xfrm>
        </p:spPr>
        <p:txBody>
          <a:bodyPr/>
          <a:lstStyle/>
          <a:p>
            <a:r>
              <a:rPr lang="en-US" sz="3200" dirty="0"/>
              <a:t>Model 1 (Final)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2CA9037-2DF1-4154-8555-162C3781D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64111" y="1868473"/>
            <a:ext cx="2811800" cy="2417421"/>
          </a:xfrm>
        </p:spPr>
        <p:txBody>
          <a:bodyPr/>
          <a:lstStyle/>
          <a:p>
            <a:r>
              <a:rPr lang="en-US" sz="1400" dirty="0"/>
              <a:t>3 layers of LSTM</a:t>
            </a:r>
          </a:p>
          <a:p>
            <a:pPr lvl="1"/>
            <a:r>
              <a:rPr lang="en-US" sz="1400" dirty="0"/>
              <a:t>Dropout applied</a:t>
            </a:r>
          </a:p>
          <a:p>
            <a:r>
              <a:rPr lang="en-US" sz="1400" dirty="0"/>
              <a:t>Final dense layer with </a:t>
            </a:r>
            <a:r>
              <a:rPr lang="en-US" sz="1400" dirty="0" err="1"/>
              <a:t>softmax</a:t>
            </a:r>
            <a:r>
              <a:rPr lang="en-US" sz="1400" dirty="0"/>
              <a:t> activation</a:t>
            </a:r>
          </a:p>
          <a:p>
            <a:r>
              <a:rPr lang="en-US" sz="1400" dirty="0"/>
              <a:t>Ran for 20 epochs</a:t>
            </a:r>
          </a:p>
          <a:p>
            <a:r>
              <a:rPr lang="en-US" sz="1400" dirty="0"/>
              <a:t>12.5mins/epoch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ED8BC462-C2A5-433B-AC6A-CFC45BD22C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29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A85FFC-4BE2-40F6-B7F7-A2D830DEF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99" y="1945229"/>
            <a:ext cx="5314812" cy="1253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8762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C9EE865-DFE2-4ED2-896D-668727C25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000" y="521984"/>
            <a:ext cx="6866100" cy="587401"/>
          </a:xfrm>
        </p:spPr>
        <p:txBody>
          <a:bodyPr/>
          <a:lstStyle/>
          <a:p>
            <a:r>
              <a:rPr lang="en-US" sz="3200" dirty="0"/>
              <a:t>Model 2 (Final)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2CA9037-2DF1-4154-8555-162C3781D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64111" y="1868473"/>
            <a:ext cx="2811800" cy="2417421"/>
          </a:xfrm>
        </p:spPr>
        <p:txBody>
          <a:bodyPr/>
          <a:lstStyle/>
          <a:p>
            <a:r>
              <a:rPr lang="en-US" sz="1400" dirty="0"/>
              <a:t>Word Embedding input layer</a:t>
            </a:r>
          </a:p>
          <a:p>
            <a:r>
              <a:rPr lang="en-US" sz="1400" dirty="0"/>
              <a:t>Final dense layer</a:t>
            </a:r>
          </a:p>
          <a:p>
            <a:r>
              <a:rPr lang="en-US" sz="1400" dirty="0"/>
              <a:t>Ran for 30 epochs</a:t>
            </a:r>
          </a:p>
          <a:p>
            <a:r>
              <a:rPr lang="en-US" sz="1400" dirty="0"/>
              <a:t>31s/epoch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ED8BC462-C2A5-433B-AC6A-CFC45BD22C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30</a:t>
            </a:fld>
            <a:endParaRPr lang="e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BAAE89-0F5E-4A34-84F7-5AD745BF9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9" y="1854576"/>
            <a:ext cx="5518271" cy="1356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6289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C9EE865-DFE2-4ED2-896D-668727C25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000" y="521984"/>
            <a:ext cx="6866100" cy="587401"/>
          </a:xfrm>
        </p:spPr>
        <p:txBody>
          <a:bodyPr/>
          <a:lstStyle/>
          <a:p>
            <a:r>
              <a:rPr lang="en-US" sz="3200" dirty="0" err="1"/>
              <a:t>Wordcloud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2CA9037-2DF1-4154-8555-162C3781D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2000" y="1294284"/>
            <a:ext cx="6866100" cy="843798"/>
          </a:xfrm>
        </p:spPr>
        <p:txBody>
          <a:bodyPr/>
          <a:lstStyle/>
          <a:p>
            <a:pPr marL="114300" indent="0">
              <a:buNone/>
            </a:pPr>
            <a:endParaRPr lang="en-US" dirty="0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ED8BC462-C2A5-433B-AC6A-CFC45BD22C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31</a:t>
            </a:fld>
            <a:endParaRPr lang="en"/>
          </a:p>
        </p:txBody>
      </p:sp>
      <p:pic>
        <p:nvPicPr>
          <p:cNvPr id="4" name="Picture 3" descr="A picture containing newspaper, table, wooden, parked&#10;&#10;Description automatically generated">
            <a:extLst>
              <a:ext uri="{FF2B5EF4-FFF2-40B4-BE49-F238E27FC236}">
                <a16:creationId xmlns:a16="http://schemas.microsoft.com/office/drawing/2014/main" id="{92B14ED5-5859-427C-8B87-83B77577F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102" y="1665299"/>
            <a:ext cx="5167895" cy="258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3409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C9EE865-DFE2-4ED2-896D-668727C25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000" y="521984"/>
            <a:ext cx="6866100" cy="587401"/>
          </a:xfrm>
        </p:spPr>
        <p:txBody>
          <a:bodyPr/>
          <a:lstStyle/>
          <a:p>
            <a:r>
              <a:rPr lang="en-US" sz="3200" dirty="0"/>
              <a:t>Predictions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2CA9037-2DF1-4154-8555-162C3781D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2000" y="1294284"/>
            <a:ext cx="6866100" cy="843798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Chosen temperature</a:t>
            </a:r>
          </a:p>
          <a:p>
            <a:r>
              <a:rPr lang="en-US" dirty="0"/>
              <a:t>0.5</a:t>
            </a:r>
          </a:p>
          <a:p>
            <a:r>
              <a:rPr lang="en-US" dirty="0"/>
              <a:t>Not too repetitive, with some randomness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ED8BC462-C2A5-433B-AC6A-CFC45BD22C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32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645095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C9EE865-DFE2-4ED2-896D-668727C25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000" y="521984"/>
            <a:ext cx="6866100" cy="587401"/>
          </a:xfrm>
        </p:spPr>
        <p:txBody>
          <a:bodyPr/>
          <a:lstStyle/>
          <a:p>
            <a:r>
              <a:rPr lang="en-US" sz="3200" dirty="0"/>
              <a:t>Predictions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2CA9037-2DF1-4154-8555-162C3781D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2000" y="1294284"/>
            <a:ext cx="6866100" cy="843798"/>
          </a:xfrm>
        </p:spPr>
        <p:txBody>
          <a:bodyPr/>
          <a:lstStyle/>
          <a:p>
            <a:pPr marL="114300" indent="0">
              <a:buNone/>
            </a:pPr>
            <a:endParaRPr lang="en-US" dirty="0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ED8BC462-C2A5-433B-AC6A-CFC45BD22C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33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27AD5A-DD62-4648-9D22-0B6812443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964" y="1624869"/>
            <a:ext cx="7912072" cy="259625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A43B4EE-296B-490B-8737-244CC71FD1A3}"/>
                  </a:ext>
                </a:extLst>
              </p14:cNvPr>
              <p14:cNvContentPartPr/>
              <p14:nvPr/>
            </p14:nvContentPartPr>
            <p14:xfrm>
              <a:off x="7339152" y="2767008"/>
              <a:ext cx="426240" cy="25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A43B4EE-296B-490B-8737-244CC71FD1A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30512" y="2758008"/>
                <a:ext cx="44388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2C2D4E1-BD0D-42B5-BD66-5CA088463043}"/>
                  </a:ext>
                </a:extLst>
              </p14:cNvPr>
              <p14:cNvContentPartPr/>
              <p14:nvPr/>
            </p14:nvContentPartPr>
            <p14:xfrm>
              <a:off x="1395552" y="3065088"/>
              <a:ext cx="1931040" cy="31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2C2D4E1-BD0D-42B5-BD66-5CA08846304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86912" y="3056448"/>
                <a:ext cx="1948680" cy="4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AC7BA052-54CE-4AEA-8A7C-82B6788BEB8F}"/>
              </a:ext>
            </a:extLst>
          </p:cNvPr>
          <p:cNvGrpSpPr/>
          <p:nvPr/>
        </p:nvGrpSpPr>
        <p:grpSpPr>
          <a:xfrm>
            <a:off x="463152" y="3767088"/>
            <a:ext cx="151560" cy="131760"/>
            <a:chOff x="463152" y="3767088"/>
            <a:chExt cx="151560" cy="13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90B173A-A2BA-4EBE-B54F-FF819B609C5E}"/>
                    </a:ext>
                  </a:extLst>
                </p14:cNvPr>
                <p14:cNvContentPartPr/>
                <p14:nvPr/>
              </p14:nvContentPartPr>
              <p14:xfrm>
                <a:off x="463152" y="3832968"/>
                <a:ext cx="127440" cy="19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90B173A-A2BA-4EBE-B54F-FF819B609C5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54152" y="3824328"/>
                  <a:ext cx="1450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246106A-1B39-4E9B-846A-A239E47D0D04}"/>
                    </a:ext>
                  </a:extLst>
                </p14:cNvPr>
                <p14:cNvContentPartPr/>
                <p14:nvPr/>
              </p14:nvContentPartPr>
              <p14:xfrm>
                <a:off x="566832" y="3767088"/>
                <a:ext cx="47880" cy="131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246106A-1B39-4E9B-846A-A239E47D0D0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57832" y="3758448"/>
                  <a:ext cx="65520" cy="14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C05D89E-076B-4232-9C36-67ABA5F62C93}"/>
                  </a:ext>
                </a:extLst>
              </p14:cNvPr>
              <p14:cNvContentPartPr/>
              <p14:nvPr/>
            </p14:nvContentPartPr>
            <p14:xfrm>
              <a:off x="700752" y="4041048"/>
              <a:ext cx="259560" cy="136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C05D89E-076B-4232-9C36-67ABA5F62C9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92112" y="4032048"/>
                <a:ext cx="277200" cy="3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30774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C9EE865-DFE2-4ED2-896D-668727C25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000" y="521984"/>
            <a:ext cx="6866100" cy="587401"/>
          </a:xfrm>
        </p:spPr>
        <p:txBody>
          <a:bodyPr/>
          <a:lstStyle/>
          <a:p>
            <a:r>
              <a:rPr lang="en-US" sz="3200" dirty="0"/>
              <a:t>Predictions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2CA9037-2DF1-4154-8555-162C3781D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2000" y="1294284"/>
            <a:ext cx="6866100" cy="843798"/>
          </a:xfrm>
        </p:spPr>
        <p:txBody>
          <a:bodyPr/>
          <a:lstStyle/>
          <a:p>
            <a:pPr marL="114300" indent="0">
              <a:buNone/>
            </a:pPr>
            <a:endParaRPr lang="en-US" dirty="0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ED8BC462-C2A5-433B-AC6A-CFC45BD22C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34</a:t>
            </a:fld>
            <a:endParaRPr lang="e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C8842B-6414-479C-8EA2-AECDA3117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932" y="1605134"/>
            <a:ext cx="7930135" cy="236030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CE2E216-CF52-4CCB-94FA-9D097C2ED3DA}"/>
                  </a:ext>
                </a:extLst>
              </p14:cNvPr>
              <p14:cNvContentPartPr/>
              <p14:nvPr/>
            </p14:nvContentPartPr>
            <p14:xfrm>
              <a:off x="8116392" y="2340408"/>
              <a:ext cx="125640" cy="119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CE2E216-CF52-4CCB-94FA-9D097C2ED3D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07392" y="2331768"/>
                <a:ext cx="14328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9081C81-1FD1-46D7-B72C-B722C880FD0A}"/>
                  </a:ext>
                </a:extLst>
              </p14:cNvPr>
              <p14:cNvContentPartPr/>
              <p14:nvPr/>
            </p14:nvContentPartPr>
            <p14:xfrm>
              <a:off x="8183712" y="3453528"/>
              <a:ext cx="167760" cy="104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9081C81-1FD1-46D7-B72C-B722C880FD0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175072" y="3444528"/>
                <a:ext cx="18540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41C0155-7E50-4508-B22C-3CDC0A6D89A8}"/>
                  </a:ext>
                </a:extLst>
              </p14:cNvPr>
              <p14:cNvContentPartPr/>
              <p14:nvPr/>
            </p14:nvContentPartPr>
            <p14:xfrm>
              <a:off x="651792" y="3784008"/>
              <a:ext cx="1626120" cy="392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41C0155-7E50-4508-B22C-3CDC0A6D89A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3152" y="3775008"/>
                <a:ext cx="164376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2E493DF-16DA-4C42-A9B6-2EB01F9ECB46}"/>
                  </a:ext>
                </a:extLst>
              </p14:cNvPr>
              <p14:cNvContentPartPr/>
              <p14:nvPr/>
            </p14:nvContentPartPr>
            <p14:xfrm>
              <a:off x="919992" y="3931248"/>
              <a:ext cx="1299240" cy="313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2E493DF-16DA-4C42-A9B6-2EB01F9ECB4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11352" y="3922608"/>
                <a:ext cx="131688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3B48A24-265C-4498-BCE2-AC766CA32C22}"/>
                  </a:ext>
                </a:extLst>
              </p14:cNvPr>
              <p14:cNvContentPartPr/>
              <p14:nvPr/>
            </p14:nvContentPartPr>
            <p14:xfrm>
              <a:off x="5443392" y="2382888"/>
              <a:ext cx="273960" cy="68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3B48A24-265C-4498-BCE2-AC766CA32C2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434392" y="2373888"/>
                <a:ext cx="29160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3E5C008-C328-40AC-8446-2FD122CDBC05}"/>
                  </a:ext>
                </a:extLst>
              </p14:cNvPr>
              <p14:cNvContentPartPr/>
              <p14:nvPr/>
            </p14:nvContentPartPr>
            <p14:xfrm>
              <a:off x="6943152" y="2505288"/>
              <a:ext cx="219240" cy="126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3E5C008-C328-40AC-8446-2FD122CDBC0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934152" y="2496288"/>
                <a:ext cx="23688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1A9566F-69C8-4E90-950E-AC4E3594E3D7}"/>
                  </a:ext>
                </a:extLst>
              </p14:cNvPr>
              <p14:cNvContentPartPr/>
              <p14:nvPr/>
            </p14:nvContentPartPr>
            <p14:xfrm>
              <a:off x="7077072" y="3521928"/>
              <a:ext cx="244080" cy="198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1A9566F-69C8-4E90-950E-AC4E3594E3D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068432" y="3513288"/>
                <a:ext cx="26172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5B4A6DB-A5B0-46E5-9113-F9645603E119}"/>
                  </a:ext>
                </a:extLst>
              </p14:cNvPr>
              <p14:cNvContentPartPr/>
              <p14:nvPr/>
            </p14:nvContentPartPr>
            <p14:xfrm>
              <a:off x="5473992" y="3395208"/>
              <a:ext cx="231480" cy="68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5B4A6DB-A5B0-46E5-9113-F9645603E11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464992" y="3386568"/>
                <a:ext cx="249120" cy="2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43430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C9EE865-DFE2-4ED2-896D-668727C25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000" y="521984"/>
            <a:ext cx="6866100" cy="587401"/>
          </a:xfrm>
        </p:spPr>
        <p:txBody>
          <a:bodyPr/>
          <a:lstStyle/>
          <a:p>
            <a:r>
              <a:rPr lang="en-US" sz="3200" dirty="0"/>
              <a:t>Predictions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2CA9037-2DF1-4154-8555-162C3781D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2000" y="1294284"/>
            <a:ext cx="6866100" cy="843798"/>
          </a:xfrm>
        </p:spPr>
        <p:txBody>
          <a:bodyPr/>
          <a:lstStyle/>
          <a:p>
            <a:pPr marL="114300" indent="0">
              <a:buNone/>
            </a:pPr>
            <a:endParaRPr lang="en-US" dirty="0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ED8BC462-C2A5-433B-AC6A-CFC45BD22C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35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6E4080-9ED8-46E7-BAED-774276945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683" y="1730124"/>
            <a:ext cx="7988633" cy="213704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006821A-43BB-4CF0-B5A5-96D12CD4C439}"/>
              </a:ext>
            </a:extLst>
          </p:cNvPr>
          <p:cNvGrpSpPr/>
          <p:nvPr/>
        </p:nvGrpSpPr>
        <p:grpSpPr>
          <a:xfrm>
            <a:off x="8345352" y="2608968"/>
            <a:ext cx="272880" cy="99360"/>
            <a:chOff x="8345352" y="2608968"/>
            <a:chExt cx="272880" cy="9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4AD4480-0645-4119-B51A-772A17339D10}"/>
                    </a:ext>
                  </a:extLst>
                </p14:cNvPr>
                <p14:cNvContentPartPr/>
                <p14:nvPr/>
              </p14:nvContentPartPr>
              <p14:xfrm>
                <a:off x="8347512" y="2608968"/>
                <a:ext cx="77400" cy="99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4AD4480-0645-4119-B51A-772A17339D1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338872" y="2599968"/>
                  <a:ext cx="950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9D5257D-5DC3-4972-B01E-14C31AFFEF28}"/>
                    </a:ext>
                  </a:extLst>
                </p14:cNvPr>
                <p14:cNvContentPartPr/>
                <p14:nvPr/>
              </p14:nvContentPartPr>
              <p14:xfrm>
                <a:off x="8345352" y="2641728"/>
                <a:ext cx="272880" cy="10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9D5257D-5DC3-4972-B01E-14C31AFFEF2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36352" y="2632728"/>
                  <a:ext cx="290520" cy="2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91EC466-2275-4D46-85ED-0397344D4A83}"/>
                  </a:ext>
                </a:extLst>
              </p14:cNvPr>
              <p14:cNvContentPartPr/>
              <p14:nvPr/>
            </p14:nvContentPartPr>
            <p14:xfrm>
              <a:off x="7192992" y="2474688"/>
              <a:ext cx="377280" cy="129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91EC466-2275-4D46-85ED-0397344D4A8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84352" y="2465688"/>
                <a:ext cx="39492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97ABDED-AF47-493A-9C35-D82D50EAA155}"/>
                  </a:ext>
                </a:extLst>
              </p14:cNvPr>
              <p14:cNvContentPartPr/>
              <p14:nvPr/>
            </p14:nvContentPartPr>
            <p14:xfrm>
              <a:off x="7790592" y="2590608"/>
              <a:ext cx="231480" cy="6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97ABDED-AF47-493A-9C35-D82D50EAA15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81592" y="2581608"/>
                <a:ext cx="249120" cy="2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4A07E800-73B7-4F44-BC91-7373C75393C1}"/>
              </a:ext>
            </a:extLst>
          </p:cNvPr>
          <p:cNvGrpSpPr/>
          <p:nvPr/>
        </p:nvGrpSpPr>
        <p:grpSpPr>
          <a:xfrm>
            <a:off x="401952" y="3510768"/>
            <a:ext cx="221760" cy="77040"/>
            <a:chOff x="401952" y="3510768"/>
            <a:chExt cx="221760" cy="7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1E92864-37A0-49AA-950C-0167126ECB56}"/>
                    </a:ext>
                  </a:extLst>
                </p14:cNvPr>
                <p14:cNvContentPartPr/>
                <p14:nvPr/>
              </p14:nvContentPartPr>
              <p14:xfrm>
                <a:off x="401952" y="3571608"/>
                <a:ext cx="205920" cy="6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1E92864-37A0-49AA-950C-0167126ECB5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93312" y="3562608"/>
                  <a:ext cx="2235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1E81A75-1F55-4374-A9E8-197CD9A7A03E}"/>
                    </a:ext>
                  </a:extLst>
                </p14:cNvPr>
                <p14:cNvContentPartPr/>
                <p14:nvPr/>
              </p14:nvContentPartPr>
              <p14:xfrm>
                <a:off x="581952" y="3510768"/>
                <a:ext cx="41760" cy="77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1E81A75-1F55-4374-A9E8-197CD9A7A03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73312" y="3502128"/>
                  <a:ext cx="59400" cy="94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918477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ctrTitle"/>
          </p:nvPr>
        </p:nvSpPr>
        <p:spPr>
          <a:xfrm>
            <a:off x="685800" y="2726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Evaluation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9" name="Google Shape;89;p15"/>
          <p:cNvSpPr txBox="1">
            <a:spLocks noGrp="1"/>
          </p:cNvSpPr>
          <p:nvPr>
            <p:ph type="subTitle" idx="1"/>
          </p:nvPr>
        </p:nvSpPr>
        <p:spPr>
          <a:xfrm>
            <a:off x="685800" y="38306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dirty="0"/>
              <a:t>Problem 2</a:t>
            </a:r>
            <a:endParaRPr dirty="0"/>
          </a:p>
        </p:txBody>
      </p:sp>
      <p:sp>
        <p:nvSpPr>
          <p:cNvPr id="90" name="Google Shape;90;p15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600" dirty="0">
              <a:solidFill>
                <a:schemeClr val="dk1"/>
              </a:solidFill>
              <a:latin typeface="Raleway Thin"/>
              <a:ea typeface="Raleway Thin"/>
              <a:cs typeface="Raleway Thin"/>
              <a:sym typeface="Raleway Thin"/>
            </a:endParaRPr>
          </a:p>
        </p:txBody>
      </p:sp>
    </p:spTree>
    <p:extLst>
      <p:ext uri="{BB962C8B-B14F-4D97-AF65-F5344CB8AC3E}">
        <p14:creationId xmlns:p14="http://schemas.microsoft.com/office/powerpoint/2010/main" val="6120063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C9EE865-DFE2-4ED2-896D-668727C25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000" y="521984"/>
            <a:ext cx="6866100" cy="587401"/>
          </a:xfrm>
        </p:spPr>
        <p:txBody>
          <a:bodyPr/>
          <a:lstStyle/>
          <a:p>
            <a:r>
              <a:rPr lang="en-US" sz="3200" dirty="0"/>
              <a:t>Best Model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2CA9037-2DF1-4154-8555-162C3781D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2000" y="1294284"/>
            <a:ext cx="6866100" cy="843798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Model 2 chosen</a:t>
            </a:r>
          </a:p>
          <a:p>
            <a:r>
              <a:rPr lang="en-US" dirty="0"/>
              <a:t>Seems to follow a learnt pattern more closely compared to Model 1; semantically more sound</a:t>
            </a:r>
          </a:p>
          <a:p>
            <a:r>
              <a:rPr lang="en-US" dirty="0"/>
              <a:t>Undeniably much more computationally efficient</a:t>
            </a:r>
          </a:p>
          <a:p>
            <a:pPr lvl="1"/>
            <a:r>
              <a:rPr lang="en-US" dirty="0"/>
              <a:t>30s/epoch to 12.5mins/epoch</a:t>
            </a:r>
          </a:p>
          <a:p>
            <a:endParaRPr lang="en-US" dirty="0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ED8BC462-C2A5-433B-AC6A-CFC45BD22C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37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994722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C9EE865-DFE2-4ED2-896D-668727C25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000" y="521984"/>
            <a:ext cx="6866100" cy="587401"/>
          </a:xfrm>
        </p:spPr>
        <p:txBody>
          <a:bodyPr/>
          <a:lstStyle/>
          <a:p>
            <a:r>
              <a:rPr lang="en-US" sz="3200" dirty="0"/>
              <a:t>Summary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2CA9037-2DF1-4154-8555-162C3781D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2000" y="1294284"/>
            <a:ext cx="6866100" cy="843798"/>
          </a:xfrm>
        </p:spPr>
        <p:txBody>
          <a:bodyPr/>
          <a:lstStyle/>
          <a:p>
            <a:r>
              <a:rPr lang="en-US" dirty="0"/>
              <a:t>More testing could have been done</a:t>
            </a:r>
          </a:p>
          <a:p>
            <a:r>
              <a:rPr lang="en-US" dirty="0"/>
              <a:t>Use of external frameworks like NLP libraries could be useful</a:t>
            </a:r>
          </a:p>
          <a:p>
            <a:pPr lvl="1"/>
            <a:r>
              <a:rPr lang="en-US" dirty="0" err="1"/>
              <a:t>spaCy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ED8BC462-C2A5-433B-AC6A-CFC45BD22C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600"/>
                </a:spcAft>
                <a:buNone/>
              </a:pPr>
              <a:t>38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014170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5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39</a:t>
            </a:fld>
            <a:endParaRPr/>
          </a:p>
        </p:txBody>
      </p:sp>
      <p:sp>
        <p:nvSpPr>
          <p:cNvPr id="370" name="Google Shape;370;p35"/>
          <p:cNvSpPr txBox="1">
            <a:spLocks noGrp="1"/>
          </p:cNvSpPr>
          <p:nvPr>
            <p:ph type="ctrTitle" idx="4294967295"/>
          </p:nvPr>
        </p:nvSpPr>
        <p:spPr>
          <a:xfrm>
            <a:off x="685800" y="1507150"/>
            <a:ext cx="65937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>
                <a:solidFill>
                  <a:schemeClr val="accent1"/>
                </a:solidFill>
              </a:rPr>
              <a:t>Thanks!</a:t>
            </a:r>
            <a:endParaRPr sz="9600" dirty="0">
              <a:solidFill>
                <a:schemeClr val="accent1"/>
              </a:solidFill>
            </a:endParaRPr>
          </a:p>
        </p:txBody>
      </p:sp>
      <p:sp>
        <p:nvSpPr>
          <p:cNvPr id="371" name="Google Shape;371;p35"/>
          <p:cNvSpPr txBox="1">
            <a:spLocks noGrp="1"/>
          </p:cNvSpPr>
          <p:nvPr>
            <p:ph type="subTitle" idx="4294967295"/>
          </p:nvPr>
        </p:nvSpPr>
        <p:spPr>
          <a:xfrm>
            <a:off x="685800" y="2860000"/>
            <a:ext cx="6593700" cy="19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3600" b="1" dirty="0"/>
          </a:p>
        </p:txBody>
      </p:sp>
      <p:sp>
        <p:nvSpPr>
          <p:cNvPr id="372" name="Google Shape;372;p35"/>
          <p:cNvSpPr/>
          <p:nvPr/>
        </p:nvSpPr>
        <p:spPr>
          <a:xfrm>
            <a:off x="8054234" y="327815"/>
            <a:ext cx="798007" cy="725835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livia template">
  <a:themeElements>
    <a:clrScheme name="Custom 347">
      <a:dk1>
        <a:srgbClr val="434343"/>
      </a:dk1>
      <a:lt1>
        <a:srgbClr val="FFFFFF"/>
      </a:lt1>
      <a:dk2>
        <a:srgbClr val="666666"/>
      </a:dk2>
      <a:lt2>
        <a:srgbClr val="CCCCCC"/>
      </a:lt2>
      <a:accent1>
        <a:srgbClr val="FFB600"/>
      </a:accent1>
      <a:accent2>
        <a:srgbClr val="FF8400"/>
      </a:accent2>
      <a:accent3>
        <a:srgbClr val="FA5E5E"/>
      </a:accent3>
      <a:accent4>
        <a:srgbClr val="E42A87"/>
      </a:accent4>
      <a:accent5>
        <a:srgbClr val="B143C7"/>
      </a:accent5>
      <a:accent6>
        <a:srgbClr val="7241B4"/>
      </a:accent6>
      <a:hlink>
        <a:srgbClr val="434343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1B0E0D41D5354892841EFAB41BA5CB" ma:contentTypeVersion="7" ma:contentTypeDescription="Create a new document." ma:contentTypeScope="" ma:versionID="b7ede405e22dcf004e6ac5b87a436a29">
  <xsd:schema xmlns:xsd="http://www.w3.org/2001/XMLSchema" xmlns:xs="http://www.w3.org/2001/XMLSchema" xmlns:p="http://schemas.microsoft.com/office/2006/metadata/properties" xmlns:ns3="419b02cf-fcc9-4c00-8b4c-f2ca4cadfe65" xmlns:ns4="bb40eff7-1811-4d65-ad86-f961af2c0665" targetNamespace="http://schemas.microsoft.com/office/2006/metadata/properties" ma:root="true" ma:fieldsID="c80bebcacf7a90d3e05df07a7adf9ac5" ns3:_="" ns4:_="">
    <xsd:import namespace="419b02cf-fcc9-4c00-8b4c-f2ca4cadfe65"/>
    <xsd:import namespace="bb40eff7-1811-4d65-ad86-f961af2c0665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9b02cf-fcc9-4c00-8b4c-f2ca4cadfe6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40eff7-1811-4d65-ad86-f961af2c06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CF27934-6529-41DF-B558-0424B7A979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2FEA630-40E3-44DC-9365-BC88DA97DC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19b02cf-fcc9-4c00-8b4c-f2ca4cadfe65"/>
    <ds:schemaRef ds:uri="bb40eff7-1811-4d65-ad86-f961af2c066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0E59027-AF8D-4F32-B856-DE0E5E2B86B6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bb40eff7-1811-4d65-ad86-f961af2c0665"/>
    <ds:schemaRef ds:uri="419b02cf-fcc9-4c00-8b4c-f2ca4cadfe6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558</Words>
  <Application>Microsoft Office PowerPoint</Application>
  <PresentationFormat>On-screen Show (16:9)</PresentationFormat>
  <Paragraphs>184</Paragraphs>
  <Slides>39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Raleway Thin</vt:lpstr>
      <vt:lpstr>Olivia template</vt:lpstr>
      <vt:lpstr>Assignment 2 Deep Learning</vt:lpstr>
      <vt:lpstr>Agenda</vt:lpstr>
      <vt:lpstr>Problem 1</vt:lpstr>
      <vt:lpstr>Overview</vt:lpstr>
      <vt:lpstr>Objective</vt:lpstr>
      <vt:lpstr>Dataset</vt:lpstr>
      <vt:lpstr>Experimental Setup</vt:lpstr>
      <vt:lpstr>Data Preprocessing</vt:lpstr>
      <vt:lpstr>Data Sampling</vt:lpstr>
      <vt:lpstr>Model Development</vt:lpstr>
      <vt:lpstr>Experimental Results</vt:lpstr>
      <vt:lpstr>Model 1 (Final)</vt:lpstr>
      <vt:lpstr>Model 1 (Final)</vt:lpstr>
      <vt:lpstr>Model 2 (Final)</vt:lpstr>
      <vt:lpstr>Model 2 (Final)</vt:lpstr>
      <vt:lpstr>Evaluation</vt:lpstr>
      <vt:lpstr>Evaluation</vt:lpstr>
      <vt:lpstr>Best Model (Problem 1)</vt:lpstr>
      <vt:lpstr>Best Model’s Predictions</vt:lpstr>
      <vt:lpstr>Summary</vt:lpstr>
      <vt:lpstr>Problem 2</vt:lpstr>
      <vt:lpstr>Overview</vt:lpstr>
      <vt:lpstr>Objective</vt:lpstr>
      <vt:lpstr>Dataset</vt:lpstr>
      <vt:lpstr>Experimental Setup</vt:lpstr>
      <vt:lpstr>Data Preprocessing</vt:lpstr>
      <vt:lpstr>Model Development</vt:lpstr>
      <vt:lpstr>Experimental Results</vt:lpstr>
      <vt:lpstr>Model 1 (Final)</vt:lpstr>
      <vt:lpstr>Model 2 (Final)</vt:lpstr>
      <vt:lpstr>Wordcloud</vt:lpstr>
      <vt:lpstr>Predictions</vt:lpstr>
      <vt:lpstr>Predictions</vt:lpstr>
      <vt:lpstr>Predictions</vt:lpstr>
      <vt:lpstr>Predictions</vt:lpstr>
      <vt:lpstr>Evaluation</vt:lpstr>
      <vt:lpstr>Best Model</vt:lpstr>
      <vt:lpstr>Summary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Fan Loong Tsen</dc:creator>
  <cp:lastModifiedBy>Tsen Fan Loong /CSF</cp:lastModifiedBy>
  <cp:revision>10</cp:revision>
  <dcterms:modified xsi:type="dcterms:W3CDTF">2020-08-13T15:56:14Z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0x010100431B0E0D41D5354892841EFAB41BA5CB</vt:lpwstr>
  </property>
</Properties>
</file>